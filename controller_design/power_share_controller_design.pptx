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9" d="100"/>
          <a:sy n="159" d="100"/>
        </p:scale>
        <p:origin x="336"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72244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 channel: the INA253 senses the boost's own output current at 0.1 V per amp. That goes through a 12-bit MDAC, which is the only variable in the chain. The OPA197 scales it by 5.02, and it is injected into the boost feedback node through 53.6k, which the 215k feedback resistor attenuates by 4.01. The boost servos its FB node to 0.6 V, so the injected current comes back out as a drop in output voltage. Multiply the four constants and you get a Thevenin source with output resistance 2.014 times g, and a no-load voltage of 15.91 V. Note the injection ratio: the firmware mapping had omitted it, so both MDACs were sitting clamped at full scale.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of those Thevenin sources in parallel, through ideal diodes that are near zero ohms when on. Solve the two-source network for the fuel-cell current, and then pick the mapping: resistance k_d over r on one channel, k_d over one-minus-r on the other. That mapping is the trick — the parallel combination stays k_d whatever r is, and the share collapses to alpha equals r, plus one term driven by the mismatch in the two no-load voltages. So nominal gain is exactly one. The mismatch term is the disturbance: about 0.17 share at 2 amps for a 0.4 volt mismatch, and it also perturbs the gain, which is where the uncertainty range comes from. Dynamically there is almost nothing in the hardware: with matched voltages both currents share the same driving factor, so the split is instantaneous regardless of what the bus is doing. The plant is essentially the 1 kHz loop delay.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nominal plant M2 is 0.80 — sensitivity peak 1.25, phase margin 74 degrees at 110 rad/s. Across the 60 corners it ranges 0.59 to 0.95, median 0.83, everything stable. What moves it is gain and delay: mean M2 drops from 0.89 to 0.74 as K goes 0.55 to 1.45, and the same drop again from half a millisecond of delay to two. The measurement prefilter costs a bit. Tau_r does essentially nothing — 0.82 versus 0.80 over the whole 20 to 300 microsecond range, which is the numerical version of the time-scale-separation argument: the converter loop is two and a half decades out of band, so lumping it as one pole is safe. The worst corner, 0.59, needs all four extremes at once, and even that is above my 0.5 target. Delay margin 11.7 ms is the one to watch — it is what covers me until T_d is measured.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of this code is inherited, not invented. The controller factors as an integrator plus a stable remainder, so the code is that sum: nought point five, plus the remainder path, plus the integrator path, both fed the same error. If someone asks about that 0.5 — it is not a linearisation point and it does not track the EMS command. It is simply what the controller outputs when every state is zero, a balanced fifty-fifty split at reset, in the middle of the 0.15 to 0.85 authority band. The setpoint is carried by the integrator: in steady state the error goes to zero, so the integrator state settles at the requested share minus 0.5. Any constant would give the same steady state. Why keep the two paths apart? Three reasons. First, the integrator is the thing Youla-H bought me — if I fold it into the sections it becomes a pole near z equals one that is only approximately at one, and exact DC tracking stops being structural and starts depending on rounding. Second, the integrator is trapezoidal specifically because the sections are Tustin — same s-to-z map, or the two paths' phase disagrees and their sum is not the controller I validated. Third, anti-windup needs one well-defined state to push on. Why sections rather than one direct form: one of these poles sits at 0.999996, four parts per million from the unit circle, about thirty times float32 epsilon — that is the sensitivity weight's pole surviving near-cancellation, and in a lumped third-order polynomial it would drown in coefficient rounding. Giving it its own section keeps it. Transposed form for the same reason: its states are accumulator sums that stay the same size as the output, where direct form two's intermediate node is exactly what loses precision on a pole that close to one. It also matches scipy's sosfilt, so the Python reference and the firmware run the same recurrence and the replay test is comparing like with like. And at the clamp the split pays off again: the remainder is stable and cannot wind up, so back-calculation only ever touches the integrator.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practical argument for the correction, and it is not the one people expect. It is not order — the H-infinity controller balance-truncates to three or four states just as well, that is a wash. And the DC error, 0.99996 versus 1, is real but tiny. The bite is anti-windup. My controller output is clamped to the 0.15 to 0.85 authority band, so saturation is a normal event, not an edge case. With Youla-H the integrator is an explicit state, so back-calculation is two lines: it absorbs exactly the clamp excess, and the ratio leaves the rail one tick after the error reverses — 18 milliseconds recovery, and critically that number does not depend on how long it was saturated. The uncorrected H-infinity controller has no integrator state to unwind. Its DC action is a mode with a 250 second time constant buried inside the cascade, and a naive clamp lets that mode keep charging while the output is stuck. I simulated it: half a second on the rail costs 0.2 seconds of recovery, ten seconds costs 3.6, a minute costs nineteen. The recovery scales with the abuse. To fix that you would add conditioning or observer-form anti-windup — doable, but that is another design step with its own validation. The Youla step makes two lines sufficient.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plant, same weights, same gamma — this is only the last step, and this is the code it changes. On the left, what ships. On the right, what the uncorrected H-infinity controller would force: six sections instead of three, thirty coefficients instead of sixteen, and no integrator to declare. Look at section one on the right: b equals one, one, zero, and a-one equals minus 0.999996. If that coefficient were exactly minus one, that line would be a trapezoidal integrator — the very thing the left-hand code has explicitly. It is not exactly minus one. It leaks by four parts per million per tick, and that leak is precisely T of zero being 0.99996 instead of one. So the integrator is present in both; the difference is that H-infinity leaves it buried mid-cascade and slightly wrong, and Youla-H hands it to you exactly and separately. That is what the clamp needs. Back-calculation wants one scalar that owns the DC action so it can give the excess back. On the right that scalar is a state inside the cascade with five more sections downstream of it — there is nothing to correct — so you clamp the output and let it charge, and pay for it on release.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03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marL="0" indent="0">
              <a:buNone/>
            </a:pPr>
            <a:r>
              <a:rPr lang="en-US" sz="1200" b="1" kern="0" spc="160" dirty="0">
                <a:solidFill>
                  <a:srgbClr val="E08A1E"/>
                </a:solidFill>
                <a:latin typeface="Calibri" pitchFamily="34" charset="0"/>
                <a:ea typeface="Calibri" pitchFamily="34" charset="-122"/>
                <a:cs typeface="Calibri" pitchFamily="34" charset="-120"/>
              </a:rPr>
              <a:t>DROOP CHAIN — PER CHANNEL</a:t>
            </a:r>
            <a:endParaRPr lang="en-US" sz="1200" dirty="0"/>
          </a:p>
        </p:txBody>
      </p:sp>
      <p:sp>
        <p:nvSpPr>
          <p:cNvPr id="3" name="Text 1"/>
          <p:cNvSpPr/>
          <p:nvPr/>
        </p:nvSpPr>
        <p:spPr>
          <a:xfrm>
            <a:off x="502920" y="566928"/>
            <a:ext cx="11155680" cy="56692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Each block sets one constant in the droop model</a:t>
            </a:r>
            <a:endParaRPr lang="en-US" sz="3200" dirty="0"/>
          </a:p>
        </p:txBody>
      </p:sp>
      <p:sp>
        <p:nvSpPr>
          <p:cNvPr id="4" name="Shape 2"/>
          <p:cNvSpPr/>
          <p:nvPr/>
        </p:nvSpPr>
        <p:spPr>
          <a:xfrm>
            <a:off x="502920" y="1371600"/>
            <a:ext cx="11183112" cy="493776"/>
          </a:xfrm>
          <a:prstGeom prst="roundRect">
            <a:avLst>
              <a:gd name="adj" fmla="val 9259"/>
            </a:avLst>
          </a:prstGeom>
          <a:solidFill>
            <a:srgbClr val="1B3F51"/>
          </a:solidFill>
          <a:ln w="9525">
            <a:solidFill>
              <a:srgbClr val="2E5A6E"/>
            </a:solidFill>
            <a:prstDash val="solid"/>
          </a:ln>
        </p:spPr>
        <p:txBody>
          <a:bodyPr/>
          <a:lstStyle/>
          <a:p>
            <a:endParaRPr lang="en-US"/>
          </a:p>
        </p:txBody>
      </p:sp>
      <p:sp>
        <p:nvSpPr>
          <p:cNvPr id="5" name="Text 3"/>
          <p:cNvSpPr/>
          <p:nvPr/>
        </p:nvSpPr>
        <p:spPr>
          <a:xfrm>
            <a:off x="685800" y="1490472"/>
            <a:ext cx="1143000" cy="256032"/>
          </a:xfrm>
          <a:prstGeom prst="rect">
            <a:avLst/>
          </a:prstGeom>
          <a:noFill/>
          <a:ln/>
        </p:spPr>
        <p:txBody>
          <a:bodyPr wrap="square" lIns="0" tIns="0" rIns="0" bIns="0" rtlCol="0" anchor="ctr"/>
          <a:lstStyle/>
          <a:p>
            <a:pPr marL="0" indent="0">
              <a:buNone/>
            </a:pPr>
            <a:r>
              <a:rPr lang="en-US" sz="1300" b="1" dirty="0">
                <a:solidFill>
                  <a:srgbClr val="E08A1E"/>
                </a:solidFill>
                <a:latin typeface="Cambria" pitchFamily="34" charset="0"/>
                <a:ea typeface="Cambria" pitchFamily="34" charset="-122"/>
                <a:cs typeface="Cambria" pitchFamily="34" charset="-120"/>
              </a:rPr>
              <a:t>I</a:t>
            </a:r>
            <a:r>
              <a:rPr lang="en-US" sz="1300" b="1" baseline="-40000" dirty="0">
                <a:solidFill>
                  <a:srgbClr val="E08A1E"/>
                </a:solidFill>
                <a:latin typeface="Cambria" pitchFamily="34" charset="0"/>
                <a:ea typeface="Cambria" pitchFamily="34" charset="-122"/>
                <a:cs typeface="Cambria" pitchFamily="34" charset="-120"/>
              </a:rPr>
              <a:t>out</a:t>
            </a:r>
            <a:endParaRPr lang="en-US" sz="1300" dirty="0"/>
          </a:p>
        </p:txBody>
      </p:sp>
      <p:sp>
        <p:nvSpPr>
          <p:cNvPr id="6" name="Text 4"/>
          <p:cNvSpPr/>
          <p:nvPr/>
        </p:nvSpPr>
        <p:spPr>
          <a:xfrm>
            <a:off x="1920240" y="1499616"/>
            <a:ext cx="2240280" cy="23774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INA253A1 shunt amp</a:t>
            </a:r>
            <a:endParaRPr lang="en-US" sz="1250" dirty="0"/>
          </a:p>
        </p:txBody>
      </p:sp>
      <p:sp>
        <p:nvSpPr>
          <p:cNvPr id="7" name="Text 5"/>
          <p:cNvSpPr/>
          <p:nvPr/>
        </p:nvSpPr>
        <p:spPr>
          <a:xfrm>
            <a:off x="4251960" y="1499616"/>
            <a:ext cx="2834640" cy="237744"/>
          </a:xfrm>
          <a:prstGeom prst="rect">
            <a:avLst/>
          </a:prstGeom>
          <a:noFill/>
          <a:ln/>
        </p:spPr>
        <p:txBody>
          <a:bodyPr wrap="square" lIns="0" tIns="0" rIns="0" bIns="0" rtlCol="0" anchor="ctr"/>
          <a:lstStyle/>
          <a:p>
            <a:pPr marL="0" indent="0">
              <a:buNone/>
            </a:pPr>
            <a:r>
              <a:rPr lang="en-US" sz="1250" dirty="0">
                <a:solidFill>
                  <a:srgbClr val="9FC3D4"/>
                </a:solidFill>
                <a:latin typeface="Calibri" pitchFamily="34" charset="0"/>
                <a:ea typeface="Calibri" pitchFamily="34" charset="-122"/>
                <a:cs typeface="Calibri" pitchFamily="34" charset="-120"/>
              </a:rPr>
              <a:t>K</a:t>
            </a:r>
            <a:r>
              <a:rPr lang="en-US" sz="1250" baseline="-40000" dirty="0">
                <a:solidFill>
                  <a:srgbClr val="9FC3D4"/>
                </a:solidFill>
                <a:latin typeface="Calibri" pitchFamily="34" charset="0"/>
                <a:ea typeface="Calibri" pitchFamily="34" charset="-122"/>
                <a:cs typeface="Calibri" pitchFamily="34" charset="-120"/>
              </a:rPr>
              <a:t>sns</a:t>
            </a:r>
            <a:r>
              <a:rPr lang="en-US" sz="1250" dirty="0">
                <a:solidFill>
                  <a:srgbClr val="9FC3D4"/>
                </a:solidFill>
                <a:latin typeface="Calibri" pitchFamily="34" charset="0"/>
                <a:ea typeface="Calibri" pitchFamily="34" charset="-122"/>
                <a:cs typeface="Calibri" pitchFamily="34" charset="-120"/>
              </a:rPr>
              <a:t> = 0.1 V/A</a:t>
            </a:r>
            <a:endParaRPr lang="en-US" sz="1250" dirty="0"/>
          </a:p>
        </p:txBody>
      </p:sp>
      <p:sp>
        <p:nvSpPr>
          <p:cNvPr id="8" name="Text 6"/>
          <p:cNvSpPr/>
          <p:nvPr/>
        </p:nvSpPr>
        <p:spPr>
          <a:xfrm>
            <a:off x="7223760" y="1508760"/>
            <a:ext cx="4297680" cy="237744"/>
          </a:xfrm>
          <a:prstGeom prst="rect">
            <a:avLst/>
          </a:prstGeom>
          <a:noFill/>
          <a:ln/>
        </p:spPr>
        <p:txBody>
          <a:bodyPr wrap="square" lIns="0" tIns="0" rIns="0" bIns="0" rtlCol="0" anchor="ctr"/>
          <a:lstStyle/>
          <a:p>
            <a:pPr marL="0" indent="0">
              <a:buNone/>
            </a:pPr>
            <a:r>
              <a:rPr lang="en-US" sz="1100" dirty="0">
                <a:solidFill>
                  <a:srgbClr val="AFC4CF"/>
                </a:solidFill>
                <a:latin typeface="Calibri" pitchFamily="34" charset="0"/>
                <a:ea typeface="Calibri" pitchFamily="34" charset="-122"/>
                <a:cs typeface="Calibri" pitchFamily="34" charset="-120"/>
              </a:rPr>
              <a:t>Sense gain. A1 fitted, not the A3 (0.4 V/A) intended.</a:t>
            </a:r>
            <a:endParaRPr lang="en-US" sz="1100" dirty="0"/>
          </a:p>
        </p:txBody>
      </p:sp>
      <p:sp>
        <p:nvSpPr>
          <p:cNvPr id="9" name="Shape 7"/>
          <p:cNvSpPr/>
          <p:nvPr/>
        </p:nvSpPr>
        <p:spPr>
          <a:xfrm>
            <a:off x="502920" y="1938528"/>
            <a:ext cx="11183112" cy="493776"/>
          </a:xfrm>
          <a:prstGeom prst="roundRect">
            <a:avLst>
              <a:gd name="adj" fmla="val 9259"/>
            </a:avLst>
          </a:prstGeom>
          <a:solidFill>
            <a:srgbClr val="1B3F51"/>
          </a:solidFill>
          <a:ln w="9525">
            <a:solidFill>
              <a:srgbClr val="2E5A6E"/>
            </a:solidFill>
            <a:prstDash val="solid"/>
          </a:ln>
        </p:spPr>
        <p:txBody>
          <a:bodyPr/>
          <a:lstStyle/>
          <a:p>
            <a:endParaRPr lang="en-US"/>
          </a:p>
        </p:txBody>
      </p:sp>
      <p:sp>
        <p:nvSpPr>
          <p:cNvPr id="10" name="Text 8"/>
          <p:cNvSpPr/>
          <p:nvPr/>
        </p:nvSpPr>
        <p:spPr>
          <a:xfrm>
            <a:off x="685800" y="2057400"/>
            <a:ext cx="1143000" cy="256032"/>
          </a:xfrm>
          <a:prstGeom prst="rect">
            <a:avLst/>
          </a:prstGeom>
          <a:noFill/>
          <a:ln/>
        </p:spPr>
        <p:txBody>
          <a:bodyPr wrap="square" lIns="0" tIns="0" rIns="0" bIns="0" rtlCol="0" anchor="ctr"/>
          <a:lstStyle/>
          <a:p>
            <a:pPr marL="0" indent="0">
              <a:buNone/>
            </a:pPr>
            <a:r>
              <a:rPr lang="en-US" sz="1300" b="1" dirty="0">
                <a:solidFill>
                  <a:srgbClr val="E08A1E"/>
                </a:solidFill>
                <a:latin typeface="Cambria" pitchFamily="34" charset="0"/>
                <a:ea typeface="Cambria" pitchFamily="34" charset="-122"/>
                <a:cs typeface="Cambria" pitchFamily="34" charset="-120"/>
              </a:rPr>
              <a:t>V</a:t>
            </a:r>
            <a:r>
              <a:rPr lang="en-US" sz="1300" b="1" baseline="-40000" dirty="0">
                <a:solidFill>
                  <a:srgbClr val="E08A1E"/>
                </a:solidFill>
                <a:latin typeface="Cambria" pitchFamily="34" charset="0"/>
                <a:ea typeface="Cambria" pitchFamily="34" charset="-122"/>
                <a:cs typeface="Cambria" pitchFamily="34" charset="-120"/>
              </a:rPr>
              <a:t>droop</a:t>
            </a:r>
            <a:endParaRPr lang="en-US" sz="1300" dirty="0"/>
          </a:p>
        </p:txBody>
      </p:sp>
      <p:sp>
        <p:nvSpPr>
          <p:cNvPr id="11" name="Text 9"/>
          <p:cNvSpPr/>
          <p:nvPr/>
        </p:nvSpPr>
        <p:spPr>
          <a:xfrm>
            <a:off x="1920240" y="2066544"/>
            <a:ext cx="2240280" cy="23774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AD5443 MDAC, 12-bit</a:t>
            </a:r>
            <a:endParaRPr lang="en-US" sz="1250" dirty="0"/>
          </a:p>
        </p:txBody>
      </p:sp>
      <p:sp>
        <p:nvSpPr>
          <p:cNvPr id="12" name="Text 10"/>
          <p:cNvSpPr/>
          <p:nvPr/>
        </p:nvSpPr>
        <p:spPr>
          <a:xfrm>
            <a:off x="4251960" y="2066544"/>
            <a:ext cx="2834640" cy="237744"/>
          </a:xfrm>
          <a:prstGeom prst="rect">
            <a:avLst/>
          </a:prstGeom>
          <a:noFill/>
          <a:ln/>
        </p:spPr>
        <p:txBody>
          <a:bodyPr wrap="square" lIns="0" tIns="0" rIns="0" bIns="0" rtlCol="0" anchor="ctr"/>
          <a:lstStyle/>
          <a:p>
            <a:pPr marL="0" indent="0">
              <a:buNone/>
            </a:pPr>
            <a:r>
              <a:rPr lang="en-US" sz="1250" dirty="0">
                <a:solidFill>
                  <a:srgbClr val="9FC3D4"/>
                </a:solidFill>
                <a:latin typeface="Calibri" pitchFamily="34" charset="0"/>
                <a:ea typeface="Calibri" pitchFamily="34" charset="-122"/>
                <a:cs typeface="Calibri" pitchFamily="34" charset="-120"/>
              </a:rPr>
              <a:t>g ∈ [0, 1]</a:t>
            </a:r>
            <a:endParaRPr lang="en-US" sz="1250" dirty="0"/>
          </a:p>
        </p:txBody>
      </p:sp>
      <p:sp>
        <p:nvSpPr>
          <p:cNvPr id="13" name="Text 11"/>
          <p:cNvSpPr/>
          <p:nvPr/>
        </p:nvSpPr>
        <p:spPr>
          <a:xfrm>
            <a:off x="7223760" y="2075688"/>
            <a:ext cx="4297680" cy="237744"/>
          </a:xfrm>
          <a:prstGeom prst="rect">
            <a:avLst/>
          </a:prstGeom>
          <a:noFill/>
          <a:ln/>
        </p:spPr>
        <p:txBody>
          <a:bodyPr wrap="square" lIns="0" tIns="0" rIns="0" bIns="0" rtlCol="0" anchor="ctr"/>
          <a:lstStyle/>
          <a:p>
            <a:pPr marL="0" indent="0">
              <a:buNone/>
            </a:pPr>
            <a:r>
              <a:rPr lang="en-US" sz="1100" dirty="0">
                <a:solidFill>
                  <a:srgbClr val="AFC4CF"/>
                </a:solidFill>
                <a:latin typeface="Calibri" pitchFamily="34" charset="0"/>
                <a:ea typeface="Calibri" pitchFamily="34" charset="-122"/>
                <a:cs typeface="Calibri" pitchFamily="34" charset="-120"/>
              </a:rPr>
              <a:t>The only control input. Sets droop strength per channel.</a:t>
            </a:r>
            <a:endParaRPr lang="en-US" sz="1100" dirty="0"/>
          </a:p>
        </p:txBody>
      </p:sp>
      <p:sp>
        <p:nvSpPr>
          <p:cNvPr id="14" name="Shape 12"/>
          <p:cNvSpPr/>
          <p:nvPr/>
        </p:nvSpPr>
        <p:spPr>
          <a:xfrm>
            <a:off x="502920" y="2505456"/>
            <a:ext cx="11183112" cy="493776"/>
          </a:xfrm>
          <a:prstGeom prst="roundRect">
            <a:avLst>
              <a:gd name="adj" fmla="val 9259"/>
            </a:avLst>
          </a:prstGeom>
          <a:solidFill>
            <a:srgbClr val="1B3F51"/>
          </a:solidFill>
          <a:ln w="9525">
            <a:solidFill>
              <a:srgbClr val="2E5A6E"/>
            </a:solidFill>
            <a:prstDash val="solid"/>
          </a:ln>
        </p:spPr>
        <p:txBody>
          <a:bodyPr/>
          <a:lstStyle/>
          <a:p>
            <a:endParaRPr lang="en-US"/>
          </a:p>
        </p:txBody>
      </p:sp>
      <p:sp>
        <p:nvSpPr>
          <p:cNvPr id="15" name="Text 13"/>
          <p:cNvSpPr/>
          <p:nvPr/>
        </p:nvSpPr>
        <p:spPr>
          <a:xfrm>
            <a:off x="685800" y="2624328"/>
            <a:ext cx="1143000" cy="256032"/>
          </a:xfrm>
          <a:prstGeom prst="rect">
            <a:avLst/>
          </a:prstGeom>
          <a:noFill/>
          <a:ln/>
        </p:spPr>
        <p:txBody>
          <a:bodyPr wrap="square" lIns="0" tIns="0" rIns="0" bIns="0" rtlCol="0" anchor="ctr"/>
          <a:lstStyle/>
          <a:p>
            <a:pPr marL="0" indent="0">
              <a:buNone/>
            </a:pPr>
            <a:r>
              <a:rPr lang="en-US" sz="1300" b="1" dirty="0">
                <a:solidFill>
                  <a:srgbClr val="E08A1E"/>
                </a:solidFill>
                <a:latin typeface="Cambria" pitchFamily="34" charset="0"/>
                <a:ea typeface="Cambria" pitchFamily="34" charset="-122"/>
                <a:cs typeface="Cambria" pitchFamily="34" charset="-120"/>
              </a:rPr>
              <a:t>g·V</a:t>
            </a:r>
            <a:r>
              <a:rPr lang="en-US" sz="1300" b="1" baseline="-40000" dirty="0">
                <a:solidFill>
                  <a:srgbClr val="E08A1E"/>
                </a:solidFill>
                <a:latin typeface="Cambria" pitchFamily="34" charset="0"/>
                <a:ea typeface="Cambria" pitchFamily="34" charset="-122"/>
                <a:cs typeface="Cambria" pitchFamily="34" charset="-120"/>
              </a:rPr>
              <a:t>droop</a:t>
            </a:r>
            <a:endParaRPr lang="en-US" sz="1300" dirty="0"/>
          </a:p>
        </p:txBody>
      </p:sp>
      <p:sp>
        <p:nvSpPr>
          <p:cNvPr id="16" name="Text 14"/>
          <p:cNvSpPr/>
          <p:nvPr/>
        </p:nvSpPr>
        <p:spPr>
          <a:xfrm>
            <a:off x="1920240" y="2633472"/>
            <a:ext cx="2240280" cy="23774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OPA197 non-inverting</a:t>
            </a:r>
            <a:endParaRPr lang="en-US" sz="1250" dirty="0"/>
          </a:p>
        </p:txBody>
      </p:sp>
      <p:sp>
        <p:nvSpPr>
          <p:cNvPr id="17" name="Text 15"/>
          <p:cNvSpPr/>
          <p:nvPr/>
        </p:nvSpPr>
        <p:spPr>
          <a:xfrm>
            <a:off x="4251960" y="2633472"/>
            <a:ext cx="2834640" cy="237744"/>
          </a:xfrm>
          <a:prstGeom prst="rect">
            <a:avLst/>
          </a:prstGeom>
          <a:noFill/>
          <a:ln/>
        </p:spPr>
        <p:txBody>
          <a:bodyPr wrap="square" lIns="0" tIns="0" rIns="0" bIns="0" rtlCol="0" anchor="ctr"/>
          <a:lstStyle/>
          <a:p>
            <a:pPr marL="0" indent="0">
              <a:buNone/>
            </a:pPr>
            <a:r>
              <a:rPr lang="en-US" sz="1250" dirty="0">
                <a:solidFill>
                  <a:srgbClr val="9FC3D4"/>
                </a:solidFill>
                <a:latin typeface="Calibri" pitchFamily="34" charset="0"/>
                <a:ea typeface="Calibri" pitchFamily="34" charset="-122"/>
                <a:cs typeface="Calibri" pitchFamily="34" charset="-120"/>
              </a:rPr>
              <a:t>A</a:t>
            </a:r>
            <a:r>
              <a:rPr lang="en-US" sz="1250" baseline="-40000" dirty="0">
                <a:solidFill>
                  <a:srgbClr val="9FC3D4"/>
                </a:solidFill>
                <a:latin typeface="Calibri" pitchFamily="34" charset="0"/>
                <a:ea typeface="Calibri" pitchFamily="34" charset="-122"/>
                <a:cs typeface="Calibri" pitchFamily="34" charset="-120"/>
              </a:rPr>
              <a:t>v</a:t>
            </a:r>
            <a:r>
              <a:rPr lang="en-US" sz="1250" dirty="0">
                <a:solidFill>
                  <a:srgbClr val="9FC3D4"/>
                </a:solidFill>
                <a:latin typeface="Calibri" pitchFamily="34" charset="0"/>
                <a:ea typeface="Calibri" pitchFamily="34" charset="-122"/>
                <a:cs typeface="Calibri" pitchFamily="34" charset="-120"/>
              </a:rPr>
              <a:t> = 1 + 40.2k/10k = 5.02</a:t>
            </a:r>
            <a:endParaRPr lang="en-US" sz="1250" dirty="0"/>
          </a:p>
        </p:txBody>
      </p:sp>
      <p:sp>
        <p:nvSpPr>
          <p:cNvPr id="18" name="Text 16"/>
          <p:cNvSpPr/>
          <p:nvPr/>
        </p:nvSpPr>
        <p:spPr>
          <a:xfrm>
            <a:off x="7223760" y="2642616"/>
            <a:ext cx="4297680" cy="237744"/>
          </a:xfrm>
          <a:prstGeom prst="rect">
            <a:avLst/>
          </a:prstGeom>
          <a:noFill/>
          <a:ln/>
        </p:spPr>
        <p:txBody>
          <a:bodyPr wrap="square" lIns="0" tIns="0" rIns="0" bIns="0" rtlCol="0" anchor="ctr"/>
          <a:lstStyle/>
          <a:p>
            <a:pPr marL="0" indent="0">
              <a:buNone/>
            </a:pPr>
            <a:r>
              <a:rPr lang="en-US" sz="1100" dirty="0">
                <a:solidFill>
                  <a:srgbClr val="AFC4CF"/>
                </a:solidFill>
                <a:latin typeface="Calibri" pitchFamily="34" charset="0"/>
                <a:ea typeface="Calibri" pitchFamily="34" charset="-122"/>
                <a:cs typeface="Calibri" pitchFamily="34" charset="-120"/>
              </a:rPr>
              <a:t>Fixed gain. 5 V rail sets the output ceiling.</a:t>
            </a:r>
            <a:endParaRPr lang="en-US" sz="1100" dirty="0"/>
          </a:p>
        </p:txBody>
      </p:sp>
      <p:sp>
        <p:nvSpPr>
          <p:cNvPr id="19" name="Shape 17"/>
          <p:cNvSpPr/>
          <p:nvPr/>
        </p:nvSpPr>
        <p:spPr>
          <a:xfrm>
            <a:off x="502920" y="3072384"/>
            <a:ext cx="11183112" cy="493776"/>
          </a:xfrm>
          <a:prstGeom prst="roundRect">
            <a:avLst>
              <a:gd name="adj" fmla="val 9259"/>
            </a:avLst>
          </a:prstGeom>
          <a:solidFill>
            <a:srgbClr val="1B3F51"/>
          </a:solidFill>
          <a:ln w="9525">
            <a:solidFill>
              <a:srgbClr val="2E5A6E"/>
            </a:solidFill>
            <a:prstDash val="solid"/>
          </a:ln>
        </p:spPr>
        <p:txBody>
          <a:bodyPr/>
          <a:lstStyle/>
          <a:p>
            <a:endParaRPr lang="en-US"/>
          </a:p>
        </p:txBody>
      </p:sp>
      <p:sp>
        <p:nvSpPr>
          <p:cNvPr id="20" name="Text 18"/>
          <p:cNvSpPr/>
          <p:nvPr/>
        </p:nvSpPr>
        <p:spPr>
          <a:xfrm>
            <a:off x="685800" y="3191256"/>
            <a:ext cx="1143000" cy="256032"/>
          </a:xfrm>
          <a:prstGeom prst="rect">
            <a:avLst/>
          </a:prstGeom>
          <a:noFill/>
          <a:ln/>
        </p:spPr>
        <p:txBody>
          <a:bodyPr wrap="square" lIns="0" tIns="0" rIns="0" bIns="0" rtlCol="0" anchor="ctr"/>
          <a:lstStyle/>
          <a:p>
            <a:pPr marL="0" indent="0">
              <a:buNone/>
            </a:pPr>
            <a:r>
              <a:rPr lang="en-US" sz="1300" b="1" dirty="0">
                <a:solidFill>
                  <a:srgbClr val="E08A1E"/>
                </a:solidFill>
                <a:latin typeface="Cambria" pitchFamily="34" charset="0"/>
                <a:ea typeface="Cambria" pitchFamily="34" charset="-122"/>
                <a:cs typeface="Cambria" pitchFamily="34" charset="-120"/>
              </a:rPr>
              <a:t>V</a:t>
            </a:r>
            <a:r>
              <a:rPr lang="en-US" sz="1300" b="1" baseline="-40000" dirty="0">
                <a:solidFill>
                  <a:srgbClr val="E08A1E"/>
                </a:solidFill>
                <a:latin typeface="Cambria" pitchFamily="34" charset="0"/>
                <a:ea typeface="Cambria" pitchFamily="34" charset="-122"/>
                <a:cs typeface="Cambria" pitchFamily="34" charset="-120"/>
              </a:rPr>
              <a:t>op</a:t>
            </a:r>
            <a:endParaRPr lang="en-US" sz="1300" dirty="0"/>
          </a:p>
        </p:txBody>
      </p:sp>
      <p:sp>
        <p:nvSpPr>
          <p:cNvPr id="21" name="Text 19"/>
          <p:cNvSpPr/>
          <p:nvPr/>
        </p:nvSpPr>
        <p:spPr>
          <a:xfrm>
            <a:off x="1920240" y="3200400"/>
            <a:ext cx="2240280" cy="23774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a:t>
            </a:r>
            <a:r>
              <a:rPr lang="en-US" sz="1250" b="1" baseline="-40000" dirty="0">
                <a:solidFill>
                  <a:srgbClr val="FFFFFF"/>
                </a:solidFill>
                <a:latin typeface="Calibri" pitchFamily="34" charset="0"/>
                <a:ea typeface="Calibri" pitchFamily="34" charset="-122"/>
                <a:cs typeface="Calibri" pitchFamily="34" charset="-120"/>
              </a:rPr>
              <a:t>inj</a:t>
            </a:r>
            <a:r>
              <a:rPr lang="en-US" sz="1250" b="1" dirty="0">
                <a:solidFill>
                  <a:srgbClr val="FFFFFF"/>
                </a:solidFill>
                <a:latin typeface="Calibri" pitchFamily="34" charset="0"/>
                <a:ea typeface="Calibri" pitchFamily="34" charset="-122"/>
                <a:cs typeface="Calibri" pitchFamily="34" charset="-120"/>
              </a:rPr>
              <a:t> = 53.6k into FB</a:t>
            </a:r>
            <a:endParaRPr lang="en-US" sz="1250" dirty="0"/>
          </a:p>
        </p:txBody>
      </p:sp>
      <p:sp>
        <p:nvSpPr>
          <p:cNvPr id="22" name="Text 20"/>
          <p:cNvSpPr/>
          <p:nvPr/>
        </p:nvSpPr>
        <p:spPr>
          <a:xfrm>
            <a:off x="4251960" y="3200400"/>
            <a:ext cx="2834640" cy="237744"/>
          </a:xfrm>
          <a:prstGeom prst="rect">
            <a:avLst/>
          </a:prstGeom>
          <a:noFill/>
          <a:ln/>
        </p:spPr>
        <p:txBody>
          <a:bodyPr wrap="square" lIns="0" tIns="0" rIns="0" bIns="0" rtlCol="0" anchor="ctr"/>
          <a:lstStyle/>
          <a:p>
            <a:pPr marL="0" indent="0">
              <a:buNone/>
            </a:pPr>
            <a:r>
              <a:rPr lang="en-US" sz="1250" dirty="0">
                <a:solidFill>
                  <a:srgbClr val="9FC3D4"/>
                </a:solidFill>
                <a:latin typeface="Calibri" pitchFamily="34" charset="0"/>
                <a:ea typeface="Calibri" pitchFamily="34" charset="-122"/>
                <a:cs typeface="Calibri" pitchFamily="34" charset="-120"/>
              </a:rPr>
              <a:t>R</a:t>
            </a:r>
            <a:r>
              <a:rPr lang="en-US" sz="1250" baseline="-40000" dirty="0">
                <a:solidFill>
                  <a:srgbClr val="9FC3D4"/>
                </a:solidFill>
                <a:latin typeface="Calibri" pitchFamily="34" charset="0"/>
                <a:ea typeface="Calibri" pitchFamily="34" charset="-122"/>
                <a:cs typeface="Calibri" pitchFamily="34" charset="-120"/>
              </a:rPr>
              <a:t>D1</a:t>
            </a:r>
            <a:r>
              <a:rPr lang="en-US" sz="1250" dirty="0">
                <a:solidFill>
                  <a:srgbClr val="9FC3D4"/>
                </a:solidFill>
                <a:latin typeface="Calibri" pitchFamily="34" charset="0"/>
                <a:ea typeface="Calibri" pitchFamily="34" charset="-122"/>
                <a:cs typeface="Calibri" pitchFamily="34" charset="-120"/>
              </a:rPr>
              <a:t>/R</a:t>
            </a:r>
            <a:r>
              <a:rPr lang="en-US" sz="1250" baseline="-40000" dirty="0">
                <a:solidFill>
                  <a:srgbClr val="9FC3D4"/>
                </a:solidFill>
                <a:latin typeface="Calibri" pitchFamily="34" charset="0"/>
                <a:ea typeface="Calibri" pitchFamily="34" charset="-122"/>
                <a:cs typeface="Calibri" pitchFamily="34" charset="-120"/>
              </a:rPr>
              <a:t>inj</a:t>
            </a:r>
            <a:r>
              <a:rPr lang="en-US" sz="1250" dirty="0">
                <a:solidFill>
                  <a:srgbClr val="9FC3D4"/>
                </a:solidFill>
                <a:latin typeface="Calibri" pitchFamily="34" charset="0"/>
                <a:ea typeface="Calibri" pitchFamily="34" charset="-122"/>
                <a:cs typeface="Calibri" pitchFamily="34" charset="-120"/>
              </a:rPr>
              <a:t> = 215k/53.6k = 4.01</a:t>
            </a:r>
            <a:endParaRPr lang="en-US" sz="1250" dirty="0"/>
          </a:p>
        </p:txBody>
      </p:sp>
      <p:sp>
        <p:nvSpPr>
          <p:cNvPr id="23" name="Text 21"/>
          <p:cNvSpPr/>
          <p:nvPr/>
        </p:nvSpPr>
        <p:spPr>
          <a:xfrm>
            <a:off x="7223760" y="3209544"/>
            <a:ext cx="4297680" cy="237744"/>
          </a:xfrm>
          <a:prstGeom prst="rect">
            <a:avLst/>
          </a:prstGeom>
          <a:noFill/>
          <a:ln/>
        </p:spPr>
        <p:txBody>
          <a:bodyPr wrap="square" lIns="0" tIns="0" rIns="0" bIns="0" rtlCol="0" anchor="ctr"/>
          <a:lstStyle/>
          <a:p>
            <a:pPr marL="0" indent="0">
              <a:buNone/>
            </a:pPr>
            <a:r>
              <a:rPr lang="en-US" sz="1100" dirty="0">
                <a:solidFill>
                  <a:srgbClr val="AFC4CF"/>
                </a:solidFill>
                <a:latin typeface="Calibri" pitchFamily="34" charset="0"/>
                <a:ea typeface="Calibri" pitchFamily="34" charset="-122"/>
                <a:cs typeface="Calibri" pitchFamily="34" charset="-120"/>
              </a:rPr>
              <a:t>Injection attenuation.</a:t>
            </a:r>
            <a:endParaRPr lang="en-US" sz="1100" dirty="0"/>
          </a:p>
        </p:txBody>
      </p:sp>
      <p:sp>
        <p:nvSpPr>
          <p:cNvPr id="24" name="Shape 22"/>
          <p:cNvSpPr/>
          <p:nvPr/>
        </p:nvSpPr>
        <p:spPr>
          <a:xfrm>
            <a:off x="502920" y="3639312"/>
            <a:ext cx="11183112" cy="493776"/>
          </a:xfrm>
          <a:prstGeom prst="roundRect">
            <a:avLst>
              <a:gd name="adj" fmla="val 9259"/>
            </a:avLst>
          </a:prstGeom>
          <a:solidFill>
            <a:srgbClr val="1B3F51"/>
          </a:solidFill>
          <a:ln w="9525">
            <a:solidFill>
              <a:srgbClr val="2E5A6E"/>
            </a:solidFill>
            <a:prstDash val="solid"/>
          </a:ln>
        </p:spPr>
        <p:txBody>
          <a:bodyPr/>
          <a:lstStyle/>
          <a:p>
            <a:endParaRPr lang="en-US"/>
          </a:p>
        </p:txBody>
      </p:sp>
      <p:sp>
        <p:nvSpPr>
          <p:cNvPr id="25" name="Text 23"/>
          <p:cNvSpPr/>
          <p:nvPr/>
        </p:nvSpPr>
        <p:spPr>
          <a:xfrm>
            <a:off x="685800" y="3758184"/>
            <a:ext cx="1143000" cy="256032"/>
          </a:xfrm>
          <a:prstGeom prst="rect">
            <a:avLst/>
          </a:prstGeom>
          <a:noFill/>
          <a:ln/>
        </p:spPr>
        <p:txBody>
          <a:bodyPr wrap="square" lIns="0" tIns="0" rIns="0" bIns="0" rtlCol="0" anchor="ctr"/>
          <a:lstStyle/>
          <a:p>
            <a:pPr marL="0" indent="0">
              <a:buNone/>
            </a:pPr>
            <a:r>
              <a:rPr lang="en-US" sz="1300" b="1" dirty="0">
                <a:solidFill>
                  <a:srgbClr val="E08A1E"/>
                </a:solidFill>
                <a:latin typeface="Cambria" pitchFamily="34" charset="0"/>
                <a:ea typeface="Cambria" pitchFamily="34" charset="-122"/>
                <a:cs typeface="Cambria" pitchFamily="34" charset="-120"/>
              </a:rPr>
              <a:t>V</a:t>
            </a:r>
            <a:r>
              <a:rPr lang="en-US" sz="1300" b="1" baseline="-40000" dirty="0">
                <a:solidFill>
                  <a:srgbClr val="E08A1E"/>
                </a:solidFill>
                <a:latin typeface="Cambria" pitchFamily="34" charset="0"/>
                <a:ea typeface="Cambria" pitchFamily="34" charset="-122"/>
                <a:cs typeface="Cambria" pitchFamily="34" charset="-120"/>
              </a:rPr>
              <a:t>FB</a:t>
            </a:r>
            <a:endParaRPr lang="en-US" sz="1300" dirty="0"/>
          </a:p>
        </p:txBody>
      </p:sp>
      <p:sp>
        <p:nvSpPr>
          <p:cNvPr id="26" name="Text 24"/>
          <p:cNvSpPr/>
          <p:nvPr/>
        </p:nvSpPr>
        <p:spPr>
          <a:xfrm>
            <a:off x="1920240" y="3767328"/>
            <a:ext cx="2240280" cy="237744"/>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TPS61288 servos FB → V</a:t>
            </a:r>
            <a:r>
              <a:rPr lang="en-US" sz="1250" b="1" baseline="-40000" dirty="0">
                <a:solidFill>
                  <a:srgbClr val="FFFFFF"/>
                </a:solidFill>
                <a:latin typeface="Calibri" pitchFamily="34" charset="0"/>
                <a:ea typeface="Calibri" pitchFamily="34" charset="-122"/>
                <a:cs typeface="Calibri" pitchFamily="34" charset="-120"/>
              </a:rPr>
              <a:t>ref</a:t>
            </a:r>
            <a:endParaRPr lang="en-US" sz="1250" dirty="0"/>
          </a:p>
        </p:txBody>
      </p:sp>
      <p:sp>
        <p:nvSpPr>
          <p:cNvPr id="27" name="Text 25"/>
          <p:cNvSpPr/>
          <p:nvPr/>
        </p:nvSpPr>
        <p:spPr>
          <a:xfrm>
            <a:off x="4251960" y="3767328"/>
            <a:ext cx="2834640" cy="237744"/>
          </a:xfrm>
          <a:prstGeom prst="rect">
            <a:avLst/>
          </a:prstGeom>
          <a:noFill/>
          <a:ln/>
        </p:spPr>
        <p:txBody>
          <a:bodyPr wrap="square" lIns="0" tIns="0" rIns="0" bIns="0" rtlCol="0" anchor="ctr"/>
          <a:lstStyle/>
          <a:p>
            <a:pPr marL="0" indent="0">
              <a:buNone/>
            </a:pPr>
            <a:r>
              <a:rPr lang="en-US" sz="1250" dirty="0">
                <a:solidFill>
                  <a:srgbClr val="9FC3D4"/>
                </a:solidFill>
                <a:latin typeface="Calibri" pitchFamily="34" charset="0"/>
                <a:ea typeface="Calibri" pitchFamily="34" charset="-122"/>
                <a:cs typeface="Calibri" pitchFamily="34" charset="-120"/>
              </a:rPr>
              <a:t>V</a:t>
            </a:r>
            <a:r>
              <a:rPr lang="en-US" sz="1250" baseline="-40000" dirty="0">
                <a:solidFill>
                  <a:srgbClr val="9FC3D4"/>
                </a:solidFill>
                <a:latin typeface="Calibri" pitchFamily="34" charset="0"/>
                <a:ea typeface="Calibri" pitchFamily="34" charset="-122"/>
                <a:cs typeface="Calibri" pitchFamily="34" charset="-120"/>
              </a:rPr>
              <a:t>ref</a:t>
            </a:r>
            <a:r>
              <a:rPr lang="en-US" sz="1250" dirty="0">
                <a:solidFill>
                  <a:srgbClr val="9FC3D4"/>
                </a:solidFill>
                <a:latin typeface="Calibri" pitchFamily="34" charset="0"/>
                <a:ea typeface="Calibri" pitchFamily="34" charset="-122"/>
                <a:cs typeface="Calibri" pitchFamily="34" charset="-120"/>
              </a:rPr>
              <a:t> = 0.6 V</a:t>
            </a:r>
            <a:endParaRPr lang="en-US" sz="1250" dirty="0"/>
          </a:p>
        </p:txBody>
      </p:sp>
      <p:sp>
        <p:nvSpPr>
          <p:cNvPr id="28" name="Text 26"/>
          <p:cNvSpPr/>
          <p:nvPr/>
        </p:nvSpPr>
        <p:spPr>
          <a:xfrm>
            <a:off x="7223760" y="3776472"/>
            <a:ext cx="4297680" cy="237744"/>
          </a:xfrm>
          <a:prstGeom prst="rect">
            <a:avLst/>
          </a:prstGeom>
          <a:noFill/>
          <a:ln/>
        </p:spPr>
        <p:txBody>
          <a:bodyPr wrap="square" lIns="0" tIns="0" rIns="0" bIns="0" rtlCol="0" anchor="ctr"/>
          <a:lstStyle/>
          <a:p>
            <a:pPr marL="0" indent="0">
              <a:buNone/>
            </a:pPr>
            <a:r>
              <a:rPr lang="en-US" sz="1100" dirty="0">
                <a:solidFill>
                  <a:srgbClr val="AFC4CF"/>
                </a:solidFill>
                <a:latin typeface="Calibri" pitchFamily="34" charset="0"/>
                <a:ea typeface="Calibri" pitchFamily="34" charset="-122"/>
                <a:cs typeface="Calibri" pitchFamily="34" charset="-120"/>
              </a:rPr>
              <a:t>Closes the loop. Turns injected current into output volts.</a:t>
            </a:r>
            <a:endParaRPr lang="en-US" sz="1100" dirty="0"/>
          </a:p>
        </p:txBody>
      </p:sp>
      <p:sp>
        <p:nvSpPr>
          <p:cNvPr id="29" name="Text 27"/>
          <p:cNvSpPr/>
          <p:nvPr/>
        </p:nvSpPr>
        <p:spPr>
          <a:xfrm>
            <a:off x="502920" y="4370832"/>
            <a:ext cx="11183112" cy="1051560"/>
          </a:xfrm>
          <a:prstGeom prst="rect">
            <a:avLst/>
          </a:prstGeom>
          <a:solidFill>
            <a:srgbClr val="23566E"/>
          </a:solidFill>
          <a:ln w="15875">
            <a:solidFill>
              <a:srgbClr val="E08A1E"/>
            </a:solidFill>
          </a:ln>
        </p:spPr>
        <p:txBody>
          <a:bodyPr wrap="square" lIns="0" tIns="0" rIns="0" bIns="0" rtlCol="0" anchor="ctr"/>
          <a:lstStyle/>
          <a:p>
            <a:pPr marL="0" indent="0" algn="ctr">
              <a:buNone/>
            </a:pPr>
            <a:r>
              <a:rPr lang="en-US" sz="1200" dirty="0">
                <a:solidFill>
                  <a:srgbClr val="AFC4CF"/>
                </a:solidFill>
                <a:latin typeface="Calibri" pitchFamily="34" charset="0"/>
                <a:ea typeface="Calibri" pitchFamily="34" charset="-122"/>
                <a:cs typeface="Calibri" pitchFamily="34" charset="-120"/>
              </a:rPr>
              <a:t>Each channel is a Thevenin source with a programmable output resistance</a:t>
            </a:r>
            <a:endParaRPr lang="en-US" sz="1200" dirty="0"/>
          </a:p>
          <a:p>
            <a:pPr marL="0" indent="0" algn="ctr">
              <a:buNone/>
            </a:pPr>
            <a:r>
              <a:rPr lang="en-US" sz="2000" b="1" dirty="0">
                <a:solidFill>
                  <a:srgbClr val="FFFFFF"/>
                </a:solidFill>
                <a:latin typeface="Cambria" pitchFamily="34" charset="0"/>
                <a:ea typeface="Cambria" pitchFamily="34" charset="-122"/>
                <a:cs typeface="Cambria" pitchFamily="34" charset="-120"/>
              </a:rPr>
              <a:t>V</a:t>
            </a:r>
            <a:r>
              <a:rPr lang="en-US" sz="2000" b="1" baseline="-40000" dirty="0">
                <a:solidFill>
                  <a:srgbClr val="FFFFFF"/>
                </a:solidFill>
                <a:latin typeface="Cambria" pitchFamily="34" charset="0"/>
                <a:ea typeface="Cambria" pitchFamily="34" charset="-122"/>
                <a:cs typeface="Cambria" pitchFamily="34" charset="-120"/>
              </a:rPr>
              <a:t>out</a:t>
            </a:r>
            <a:r>
              <a:rPr lang="en-US" sz="2000" b="1" dirty="0">
                <a:solidFill>
                  <a:srgbClr val="FFFFFF"/>
                </a:solidFill>
                <a:latin typeface="Cambria" pitchFamily="34" charset="0"/>
                <a:ea typeface="Cambria" pitchFamily="34" charset="-122"/>
                <a:cs typeface="Cambria" pitchFamily="34" charset="-120"/>
              </a:rPr>
              <a:t>  =  V</a:t>
            </a:r>
            <a:r>
              <a:rPr lang="en-US" sz="2000" b="1" baseline="-40000" dirty="0">
                <a:solidFill>
                  <a:srgbClr val="FFFFFF"/>
                </a:solidFill>
                <a:latin typeface="Cambria" pitchFamily="34" charset="0"/>
                <a:ea typeface="Cambria" pitchFamily="34" charset="-122"/>
                <a:cs typeface="Cambria" pitchFamily="34" charset="-120"/>
              </a:rPr>
              <a:t>0</a:t>
            </a:r>
            <a:r>
              <a:rPr lang="en-US" sz="2000" b="1" dirty="0">
                <a:solidFill>
                  <a:srgbClr val="FFFFFF"/>
                </a:solidFill>
                <a:latin typeface="Cambria" pitchFamily="34" charset="0"/>
                <a:ea typeface="Cambria" pitchFamily="34" charset="-122"/>
                <a:cs typeface="Cambria" pitchFamily="34" charset="-120"/>
              </a:rPr>
              <a:t> − R</a:t>
            </a:r>
            <a:r>
              <a:rPr lang="en-US" sz="2000" b="1" baseline="-40000" dirty="0">
                <a:solidFill>
                  <a:srgbClr val="FFFFFF"/>
                </a:solidFill>
                <a:latin typeface="Cambria" pitchFamily="34" charset="0"/>
                <a:ea typeface="Cambria" pitchFamily="34" charset="-122"/>
                <a:cs typeface="Cambria" pitchFamily="34" charset="-120"/>
              </a:rPr>
              <a:t>e</a:t>
            </a:r>
            <a:r>
              <a:rPr lang="en-US" sz="2000" b="1" dirty="0">
                <a:solidFill>
                  <a:srgbClr val="FFFFFF"/>
                </a:solidFill>
                <a:latin typeface="Cambria" pitchFamily="34" charset="0"/>
                <a:ea typeface="Cambria" pitchFamily="34" charset="-122"/>
                <a:cs typeface="Cambria" pitchFamily="34" charset="-120"/>
              </a:rPr>
              <a:t>(g)·I</a:t>
            </a:r>
            <a:r>
              <a:rPr lang="en-US" sz="2000" b="1" baseline="-40000" dirty="0">
                <a:solidFill>
                  <a:srgbClr val="FFFFFF"/>
                </a:solidFill>
                <a:latin typeface="Cambria" pitchFamily="34" charset="0"/>
                <a:ea typeface="Cambria" pitchFamily="34" charset="-122"/>
                <a:cs typeface="Cambria" pitchFamily="34" charset="-120"/>
              </a:rPr>
              <a:t>out</a:t>
            </a:r>
            <a:endParaRPr lang="en-US" sz="1200" dirty="0"/>
          </a:p>
          <a:p>
            <a:pPr marL="0" indent="0" algn="ctr">
              <a:buNone/>
            </a:pPr>
            <a:r>
              <a:rPr lang="en-US" sz="1300" dirty="0">
                <a:solidFill>
                  <a:srgbClr val="9FC3D4"/>
                </a:solidFill>
                <a:latin typeface="Cambria" pitchFamily="34" charset="0"/>
                <a:ea typeface="Cambria" pitchFamily="34" charset="-122"/>
                <a:cs typeface="Cambria" pitchFamily="34" charset="-120"/>
              </a:rPr>
              <a:t>R</a:t>
            </a:r>
            <a:r>
              <a:rPr lang="en-US" sz="1300" baseline="-40000" dirty="0">
                <a:solidFill>
                  <a:srgbClr val="9FC3D4"/>
                </a:solidFill>
                <a:latin typeface="Cambria" pitchFamily="34" charset="0"/>
                <a:ea typeface="Cambria" pitchFamily="34" charset="-122"/>
                <a:cs typeface="Cambria" pitchFamily="34" charset="-120"/>
              </a:rPr>
              <a:t>e</a:t>
            </a:r>
            <a:r>
              <a:rPr lang="en-US" sz="1300" dirty="0">
                <a:solidFill>
                  <a:srgbClr val="9FC3D4"/>
                </a:solidFill>
                <a:latin typeface="Cambria" pitchFamily="34" charset="0"/>
                <a:ea typeface="Cambria" pitchFamily="34" charset="-122"/>
                <a:cs typeface="Cambria" pitchFamily="34" charset="-120"/>
              </a:rPr>
              <a:t>(g) = K</a:t>
            </a:r>
            <a:r>
              <a:rPr lang="en-US" sz="1300" baseline="-40000" dirty="0">
                <a:solidFill>
                  <a:srgbClr val="9FC3D4"/>
                </a:solidFill>
                <a:latin typeface="Cambria" pitchFamily="34" charset="0"/>
                <a:ea typeface="Cambria" pitchFamily="34" charset="-122"/>
                <a:cs typeface="Cambria" pitchFamily="34" charset="-120"/>
              </a:rPr>
              <a:t>sns</a:t>
            </a:r>
            <a:r>
              <a:rPr lang="en-US" sz="1300" dirty="0">
                <a:solidFill>
                  <a:srgbClr val="9FC3D4"/>
                </a:solidFill>
                <a:latin typeface="Cambria" pitchFamily="34" charset="0"/>
                <a:ea typeface="Cambria" pitchFamily="34" charset="-122"/>
                <a:cs typeface="Cambria" pitchFamily="34" charset="-120"/>
              </a:rPr>
              <a:t>·A</a:t>
            </a:r>
            <a:r>
              <a:rPr lang="en-US" sz="1300" baseline="-40000" dirty="0">
                <a:solidFill>
                  <a:srgbClr val="9FC3D4"/>
                </a:solidFill>
                <a:latin typeface="Cambria" pitchFamily="34" charset="0"/>
                <a:ea typeface="Cambria" pitchFamily="34" charset="-122"/>
                <a:cs typeface="Cambria" pitchFamily="34" charset="-120"/>
              </a:rPr>
              <a:t>v</a:t>
            </a:r>
            <a:r>
              <a:rPr lang="en-US" sz="1300" dirty="0">
                <a:solidFill>
                  <a:srgbClr val="9FC3D4"/>
                </a:solidFill>
                <a:latin typeface="Cambria" pitchFamily="34" charset="0"/>
                <a:ea typeface="Cambria" pitchFamily="34" charset="-122"/>
                <a:cs typeface="Cambria" pitchFamily="34" charset="-120"/>
              </a:rPr>
              <a:t>·(R</a:t>
            </a:r>
            <a:r>
              <a:rPr lang="en-US" sz="1300" baseline="-40000" dirty="0">
                <a:solidFill>
                  <a:srgbClr val="9FC3D4"/>
                </a:solidFill>
                <a:latin typeface="Cambria" pitchFamily="34" charset="0"/>
                <a:ea typeface="Cambria" pitchFamily="34" charset="-122"/>
                <a:cs typeface="Cambria" pitchFamily="34" charset="-120"/>
              </a:rPr>
              <a:t>D1</a:t>
            </a:r>
            <a:r>
              <a:rPr lang="en-US" sz="1300" dirty="0">
                <a:solidFill>
                  <a:srgbClr val="9FC3D4"/>
                </a:solidFill>
                <a:latin typeface="Cambria" pitchFamily="34" charset="0"/>
                <a:ea typeface="Cambria" pitchFamily="34" charset="-122"/>
                <a:cs typeface="Cambria" pitchFamily="34" charset="-120"/>
              </a:rPr>
              <a:t>/R</a:t>
            </a:r>
            <a:r>
              <a:rPr lang="en-US" sz="1300" baseline="-40000" dirty="0">
                <a:solidFill>
                  <a:srgbClr val="9FC3D4"/>
                </a:solidFill>
                <a:latin typeface="Cambria" pitchFamily="34" charset="0"/>
                <a:ea typeface="Cambria" pitchFamily="34" charset="-122"/>
                <a:cs typeface="Cambria" pitchFamily="34" charset="-120"/>
              </a:rPr>
              <a:t>inj</a:t>
            </a:r>
            <a:r>
              <a:rPr lang="en-US" sz="1300" dirty="0">
                <a:solidFill>
                  <a:srgbClr val="9FC3D4"/>
                </a:solidFill>
                <a:latin typeface="Cambria" pitchFamily="34" charset="0"/>
                <a:ea typeface="Cambria" pitchFamily="34" charset="-122"/>
                <a:cs typeface="Cambria" pitchFamily="34" charset="-120"/>
              </a:rPr>
              <a:t>)·g = 2.014·g Ω        V</a:t>
            </a:r>
            <a:r>
              <a:rPr lang="en-US" sz="1300" baseline="-40000" dirty="0">
                <a:solidFill>
                  <a:srgbClr val="9FC3D4"/>
                </a:solidFill>
                <a:latin typeface="Cambria" pitchFamily="34" charset="0"/>
                <a:ea typeface="Cambria" pitchFamily="34" charset="-122"/>
                <a:cs typeface="Cambria" pitchFamily="34" charset="-120"/>
              </a:rPr>
              <a:t>0</a:t>
            </a:r>
            <a:r>
              <a:rPr lang="en-US" sz="1300" dirty="0">
                <a:solidFill>
                  <a:srgbClr val="9FC3D4"/>
                </a:solidFill>
                <a:latin typeface="Cambria" pitchFamily="34" charset="0"/>
                <a:ea typeface="Cambria" pitchFamily="34" charset="-122"/>
                <a:cs typeface="Cambria" pitchFamily="34" charset="-120"/>
              </a:rPr>
              <a:t> = V</a:t>
            </a:r>
            <a:r>
              <a:rPr lang="en-US" sz="1300" baseline="-40000" dirty="0">
                <a:solidFill>
                  <a:srgbClr val="9FC3D4"/>
                </a:solidFill>
                <a:latin typeface="Cambria" pitchFamily="34" charset="0"/>
                <a:ea typeface="Cambria" pitchFamily="34" charset="-122"/>
                <a:cs typeface="Cambria" pitchFamily="34" charset="-120"/>
              </a:rPr>
              <a:t>ref</a:t>
            </a:r>
            <a:r>
              <a:rPr lang="en-US" sz="1300" dirty="0">
                <a:solidFill>
                  <a:srgbClr val="9FC3D4"/>
                </a:solidFill>
                <a:latin typeface="Cambria" pitchFamily="34" charset="0"/>
                <a:ea typeface="Cambria" pitchFamily="34" charset="-122"/>
                <a:cs typeface="Cambria" pitchFamily="34" charset="-120"/>
              </a:rPr>
              <a:t>(1 + R</a:t>
            </a:r>
            <a:r>
              <a:rPr lang="en-US" sz="1300" baseline="-40000" dirty="0">
                <a:solidFill>
                  <a:srgbClr val="9FC3D4"/>
                </a:solidFill>
                <a:latin typeface="Cambria" pitchFamily="34" charset="0"/>
                <a:ea typeface="Cambria" pitchFamily="34" charset="-122"/>
                <a:cs typeface="Cambria" pitchFamily="34" charset="-120"/>
              </a:rPr>
              <a:t>D1</a:t>
            </a:r>
            <a:r>
              <a:rPr lang="en-US" sz="1300" dirty="0">
                <a:solidFill>
                  <a:srgbClr val="9FC3D4"/>
                </a:solidFill>
                <a:latin typeface="Cambria" pitchFamily="34" charset="0"/>
                <a:ea typeface="Cambria" pitchFamily="34" charset="-122"/>
                <a:cs typeface="Cambria" pitchFamily="34" charset="-120"/>
              </a:rPr>
              <a:t>/R</a:t>
            </a:r>
            <a:r>
              <a:rPr lang="en-US" sz="1300" baseline="-40000" dirty="0">
                <a:solidFill>
                  <a:srgbClr val="9FC3D4"/>
                </a:solidFill>
                <a:latin typeface="Cambria" pitchFamily="34" charset="0"/>
                <a:ea typeface="Cambria" pitchFamily="34" charset="-122"/>
                <a:cs typeface="Cambria" pitchFamily="34" charset="-120"/>
              </a:rPr>
              <a:t>D2</a:t>
            </a:r>
            <a:r>
              <a:rPr lang="en-US" sz="1300" dirty="0">
                <a:solidFill>
                  <a:srgbClr val="9FC3D4"/>
                </a:solidFill>
                <a:latin typeface="Cambria" pitchFamily="34" charset="0"/>
                <a:ea typeface="Cambria" pitchFamily="34" charset="-122"/>
                <a:cs typeface="Cambria" pitchFamily="34" charset="-120"/>
              </a:rPr>
              <a:t> + R</a:t>
            </a:r>
            <a:r>
              <a:rPr lang="en-US" sz="1300" baseline="-40000" dirty="0">
                <a:solidFill>
                  <a:srgbClr val="9FC3D4"/>
                </a:solidFill>
                <a:latin typeface="Cambria" pitchFamily="34" charset="0"/>
                <a:ea typeface="Cambria" pitchFamily="34" charset="-122"/>
                <a:cs typeface="Cambria" pitchFamily="34" charset="-120"/>
              </a:rPr>
              <a:t>D1</a:t>
            </a:r>
            <a:r>
              <a:rPr lang="en-US" sz="1300" dirty="0">
                <a:solidFill>
                  <a:srgbClr val="9FC3D4"/>
                </a:solidFill>
                <a:latin typeface="Cambria" pitchFamily="34" charset="0"/>
                <a:ea typeface="Cambria" pitchFamily="34" charset="-122"/>
                <a:cs typeface="Cambria" pitchFamily="34" charset="-120"/>
              </a:rPr>
              <a:t>/R</a:t>
            </a:r>
            <a:r>
              <a:rPr lang="en-US" sz="1300" baseline="-40000" dirty="0">
                <a:solidFill>
                  <a:srgbClr val="9FC3D4"/>
                </a:solidFill>
                <a:latin typeface="Cambria" pitchFamily="34" charset="0"/>
                <a:ea typeface="Cambria" pitchFamily="34" charset="-122"/>
                <a:cs typeface="Cambria" pitchFamily="34" charset="-120"/>
              </a:rPr>
              <a:t>inj</a:t>
            </a:r>
            <a:r>
              <a:rPr lang="en-US" sz="1300" dirty="0">
                <a:solidFill>
                  <a:srgbClr val="9FC3D4"/>
                </a:solidFill>
                <a:latin typeface="Cambria" pitchFamily="34" charset="0"/>
                <a:ea typeface="Cambria" pitchFamily="34" charset="-122"/>
                <a:cs typeface="Cambria" pitchFamily="34" charset="-120"/>
              </a:rPr>
              <a:t>) = 15.91 V</a:t>
            </a:r>
            <a:endParaRPr lang="en-US" sz="1200" dirty="0"/>
          </a:p>
        </p:txBody>
      </p:sp>
      <p:sp>
        <p:nvSpPr>
          <p:cNvPr id="30" name="Text 28"/>
          <p:cNvSpPr/>
          <p:nvPr/>
        </p:nvSpPr>
        <p:spPr>
          <a:xfrm>
            <a:off x="502920" y="5596128"/>
            <a:ext cx="11183112" cy="274320"/>
          </a:xfrm>
          <a:prstGeom prst="rect">
            <a:avLst/>
          </a:prstGeom>
          <a:noFill/>
          <a:ln/>
        </p:spPr>
        <p:txBody>
          <a:bodyPr wrap="square" lIns="0" tIns="0" rIns="0" bIns="0" rtlCol="0" anchor="ctr"/>
          <a:lstStyle/>
          <a:p>
            <a:pPr marL="0" indent="0" algn="ctr">
              <a:buNone/>
            </a:pPr>
            <a:r>
              <a:rPr lang="en-US" sz="1250" dirty="0">
                <a:solidFill>
                  <a:srgbClr val="AFC4CF"/>
                </a:solidFill>
                <a:latin typeface="Calibri" pitchFamily="34" charset="0"/>
                <a:ea typeface="Calibri" pitchFamily="34" charset="-122"/>
                <a:cs typeface="Calibri" pitchFamily="34" charset="-120"/>
              </a:rPr>
              <a:t>The MDAC is the only thing that moves. Everything upstream and downstream is a fixed constant, so 12 bits of g buy 0.49 mΩ of droop resolution from 0 to 2.014 Ω.</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7"/>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marL="0" indent="0">
              <a:buNone/>
            </a:pPr>
            <a:r>
              <a:rPr lang="en-US" sz="1200" b="1" kern="0" spc="160" dirty="0">
                <a:solidFill>
                  <a:srgbClr val="1C7293"/>
                </a:solidFill>
                <a:latin typeface="Calibri" pitchFamily="34" charset="0"/>
                <a:ea typeface="Calibri" pitchFamily="34" charset="-122"/>
                <a:cs typeface="Calibri" pitchFamily="34" charset="-120"/>
              </a:rPr>
              <a:t>POWER SHARE — THE MODEL</a:t>
            </a:r>
            <a:endParaRPr lang="en-US" sz="1200" dirty="0"/>
          </a:p>
        </p:txBody>
      </p:sp>
      <p:sp>
        <p:nvSpPr>
          <p:cNvPr id="3" name="Text 1"/>
          <p:cNvSpPr/>
          <p:nvPr/>
        </p:nvSpPr>
        <p:spPr>
          <a:xfrm>
            <a:off x="502920" y="566928"/>
            <a:ext cx="11155680" cy="566928"/>
          </a:xfrm>
          <a:prstGeom prst="rect">
            <a:avLst/>
          </a:prstGeom>
          <a:noFill/>
          <a:ln/>
        </p:spPr>
        <p:txBody>
          <a:bodyPr wrap="square" lIns="0" tIns="0" rIns="0" bIns="0" rtlCol="0" anchor="ctr"/>
          <a:lstStyle/>
          <a:p>
            <a:pPr marL="0" indent="0">
              <a:buNone/>
            </a:pPr>
            <a:r>
              <a:rPr lang="en-US" sz="3200" b="1" dirty="0">
                <a:solidFill>
                  <a:srgbClr val="12303F"/>
                </a:solidFill>
                <a:latin typeface="Cambria" pitchFamily="34" charset="0"/>
                <a:ea typeface="Cambria" pitchFamily="34" charset="-122"/>
                <a:cs typeface="Cambria" pitchFamily="34" charset="-120"/>
              </a:rPr>
              <a:t>Two programmable sources in parallel give the share</a:t>
            </a:r>
            <a:endParaRPr lang="en-US" sz="3200" dirty="0"/>
          </a:p>
        </p:txBody>
      </p:sp>
      <p:sp>
        <p:nvSpPr>
          <p:cNvPr id="4" name="Shape 2"/>
          <p:cNvSpPr/>
          <p:nvPr/>
        </p:nvSpPr>
        <p:spPr>
          <a:xfrm>
            <a:off x="502920" y="1325880"/>
            <a:ext cx="6720840" cy="3017520"/>
          </a:xfrm>
          <a:prstGeom prst="roundRect">
            <a:avLst>
              <a:gd name="adj" fmla="val 2424"/>
            </a:avLst>
          </a:prstGeom>
          <a:solidFill>
            <a:srgbClr val="FFFFFF"/>
          </a:solidFill>
          <a:ln w="9525">
            <a:solidFill>
              <a:srgbClr val="DCE3E7"/>
            </a:solidFill>
            <a:prstDash val="solid"/>
          </a:ln>
          <a:effectLst>
            <a:outerShdw blurRad="101600" dist="12700" dir="5400000" algn="bl" rotWithShape="0">
              <a:srgbClr val="203040">
                <a:alpha val="8000"/>
              </a:srgbClr>
            </a:outerShdw>
          </a:effectLst>
        </p:spPr>
        <p:txBody>
          <a:bodyPr/>
          <a:lstStyle/>
          <a:p>
            <a:endParaRPr lang="en-US"/>
          </a:p>
        </p:txBody>
      </p:sp>
      <p:sp>
        <p:nvSpPr>
          <p:cNvPr id="5" name="Text 3"/>
          <p:cNvSpPr/>
          <p:nvPr/>
        </p:nvSpPr>
        <p:spPr>
          <a:xfrm>
            <a:off x="777240" y="1463040"/>
            <a:ext cx="6172200" cy="237744"/>
          </a:xfrm>
          <a:prstGeom prst="rect">
            <a:avLst/>
          </a:prstGeom>
          <a:noFill/>
          <a:ln/>
        </p:spPr>
        <p:txBody>
          <a:bodyPr wrap="square" lIns="0" tIns="0" rIns="0" bIns="0" rtlCol="0" anchor="ctr"/>
          <a:lstStyle/>
          <a:p>
            <a:pPr marL="0" indent="0">
              <a:buNone/>
            </a:pPr>
            <a:r>
              <a:rPr lang="en-US" sz="1200" dirty="0">
                <a:solidFill>
                  <a:srgbClr val="6B7C87"/>
                </a:solidFill>
                <a:latin typeface="Calibri" pitchFamily="34" charset="0"/>
                <a:ea typeface="Calibri" pitchFamily="34" charset="-122"/>
                <a:cs typeface="Calibri" pitchFamily="34" charset="-120"/>
              </a:rPr>
              <a:t>Both sources feed VBUS through RT1987 ideal diodes (≈ 0 Ω on):</a:t>
            </a:r>
            <a:endParaRPr lang="en-US" sz="1200" dirty="0"/>
          </a:p>
        </p:txBody>
      </p:sp>
      <p:sp>
        <p:nvSpPr>
          <p:cNvPr id="6" name="Text 4"/>
          <p:cNvSpPr/>
          <p:nvPr/>
        </p:nvSpPr>
        <p:spPr>
          <a:xfrm>
            <a:off x="777240" y="1737360"/>
            <a:ext cx="6172200" cy="274320"/>
          </a:xfrm>
          <a:prstGeom prst="rect">
            <a:avLst/>
          </a:prstGeom>
          <a:noFill/>
          <a:ln/>
        </p:spPr>
        <p:txBody>
          <a:bodyPr wrap="square" lIns="0" tIns="0" rIns="0" bIns="0" rtlCol="0" anchor="ctr"/>
          <a:lstStyle/>
          <a:p>
            <a:pPr marL="0" indent="0">
              <a:buNone/>
            </a:pPr>
            <a:r>
              <a:rPr lang="en-US" sz="1500" b="1" dirty="0">
                <a:solidFill>
                  <a:srgbClr val="12303F"/>
                </a:solidFill>
                <a:latin typeface="Cambria" pitchFamily="34" charset="0"/>
                <a:ea typeface="Cambria" pitchFamily="34" charset="-122"/>
                <a:cs typeface="Cambria" pitchFamily="34" charset="-120"/>
              </a:rPr>
              <a:t>V</a:t>
            </a:r>
            <a:r>
              <a:rPr lang="en-US" sz="1500" b="1" baseline="-40000" dirty="0">
                <a:solidFill>
                  <a:srgbClr val="12303F"/>
                </a:solidFill>
                <a:latin typeface="Cambria" pitchFamily="34" charset="0"/>
                <a:ea typeface="Cambria" pitchFamily="34" charset="-122"/>
                <a:cs typeface="Cambria" pitchFamily="34" charset="-120"/>
              </a:rPr>
              <a:t>bus</a:t>
            </a:r>
            <a:r>
              <a:rPr lang="en-US" sz="1500" b="1" dirty="0">
                <a:solidFill>
                  <a:srgbClr val="12303F"/>
                </a:solidFill>
                <a:latin typeface="Cambria" pitchFamily="34" charset="0"/>
                <a:ea typeface="Cambria" pitchFamily="34" charset="-122"/>
                <a:cs typeface="Cambria" pitchFamily="34" charset="-120"/>
              </a:rPr>
              <a:t> = V</a:t>
            </a:r>
            <a:r>
              <a:rPr lang="en-US" sz="1500" b="1" baseline="-40000" dirty="0">
                <a:solidFill>
                  <a:srgbClr val="12303F"/>
                </a:solidFill>
                <a:latin typeface="Cambria" pitchFamily="34" charset="0"/>
                <a:ea typeface="Cambria" pitchFamily="34" charset="-122"/>
                <a:cs typeface="Cambria" pitchFamily="34" charset="-120"/>
              </a:rPr>
              <a:t>0F</a:t>
            </a:r>
            <a:r>
              <a:rPr lang="en-US" sz="1500" b="1" dirty="0">
                <a:solidFill>
                  <a:srgbClr val="12303F"/>
                </a:solidFill>
                <a:latin typeface="Cambria" pitchFamily="34" charset="0"/>
                <a:ea typeface="Cambria" pitchFamily="34" charset="-122"/>
                <a:cs typeface="Cambria" pitchFamily="34" charset="-120"/>
              </a:rPr>
              <a:t> − R</a:t>
            </a:r>
            <a:r>
              <a:rPr lang="en-US" sz="1500" b="1" baseline="-40000" dirty="0">
                <a:solidFill>
                  <a:srgbClr val="12303F"/>
                </a:solidFill>
                <a:latin typeface="Cambria" pitchFamily="34" charset="0"/>
                <a:ea typeface="Cambria" pitchFamily="34" charset="-122"/>
                <a:cs typeface="Cambria" pitchFamily="34" charset="-120"/>
              </a:rPr>
              <a:t>F</a:t>
            </a:r>
            <a:r>
              <a:rPr lang="en-US" sz="1500" b="1" dirty="0">
                <a:solidFill>
                  <a:srgbClr val="12303F"/>
                </a:solidFill>
                <a:latin typeface="Cambria" pitchFamily="34" charset="0"/>
                <a:ea typeface="Cambria" pitchFamily="34" charset="-122"/>
                <a:cs typeface="Cambria" pitchFamily="34" charset="-120"/>
              </a:rPr>
              <a:t>·I</a:t>
            </a:r>
            <a:r>
              <a:rPr lang="en-US" sz="1500" b="1" baseline="-40000" dirty="0">
                <a:solidFill>
                  <a:srgbClr val="12303F"/>
                </a:solidFill>
                <a:latin typeface="Cambria" pitchFamily="34" charset="0"/>
                <a:ea typeface="Cambria" pitchFamily="34" charset="-122"/>
                <a:cs typeface="Cambria" pitchFamily="34" charset="-120"/>
              </a:rPr>
              <a:t>F</a:t>
            </a:r>
            <a:r>
              <a:rPr lang="en-US" sz="1500" b="1" dirty="0">
                <a:solidFill>
                  <a:srgbClr val="12303F"/>
                </a:solidFill>
                <a:latin typeface="Cambria" pitchFamily="34" charset="0"/>
                <a:ea typeface="Cambria" pitchFamily="34" charset="-122"/>
                <a:cs typeface="Cambria" pitchFamily="34" charset="-120"/>
              </a:rPr>
              <a:t> = V</a:t>
            </a:r>
            <a:r>
              <a:rPr lang="en-US" sz="1500" b="1" baseline="-40000" dirty="0">
                <a:solidFill>
                  <a:srgbClr val="12303F"/>
                </a:solidFill>
                <a:latin typeface="Cambria" pitchFamily="34" charset="0"/>
                <a:ea typeface="Cambria" pitchFamily="34" charset="-122"/>
                <a:cs typeface="Cambria" pitchFamily="34" charset="-120"/>
              </a:rPr>
              <a:t>0B</a:t>
            </a:r>
            <a:r>
              <a:rPr lang="en-US" sz="1500" b="1" dirty="0">
                <a:solidFill>
                  <a:srgbClr val="12303F"/>
                </a:solidFill>
                <a:latin typeface="Cambria" pitchFamily="34" charset="0"/>
                <a:ea typeface="Cambria" pitchFamily="34" charset="-122"/>
                <a:cs typeface="Cambria" pitchFamily="34" charset="-120"/>
              </a:rPr>
              <a:t> − R</a:t>
            </a:r>
            <a:r>
              <a:rPr lang="en-US" sz="1500" b="1" baseline="-40000" dirty="0">
                <a:solidFill>
                  <a:srgbClr val="12303F"/>
                </a:solidFill>
                <a:latin typeface="Cambria" pitchFamily="34" charset="0"/>
                <a:ea typeface="Cambria" pitchFamily="34" charset="-122"/>
                <a:cs typeface="Cambria" pitchFamily="34" charset="-120"/>
              </a:rPr>
              <a:t>B</a:t>
            </a:r>
            <a:r>
              <a:rPr lang="en-US" sz="1500" b="1" dirty="0">
                <a:solidFill>
                  <a:srgbClr val="12303F"/>
                </a:solidFill>
                <a:latin typeface="Cambria" pitchFamily="34" charset="0"/>
                <a:ea typeface="Cambria" pitchFamily="34" charset="-122"/>
                <a:cs typeface="Cambria" pitchFamily="34" charset="-120"/>
              </a:rPr>
              <a:t>·I</a:t>
            </a:r>
            <a:r>
              <a:rPr lang="en-US" sz="1500" b="1" baseline="-40000" dirty="0">
                <a:solidFill>
                  <a:srgbClr val="12303F"/>
                </a:solidFill>
                <a:latin typeface="Cambria" pitchFamily="34" charset="0"/>
                <a:ea typeface="Cambria" pitchFamily="34" charset="-122"/>
                <a:cs typeface="Cambria" pitchFamily="34" charset="-120"/>
              </a:rPr>
              <a:t>B</a:t>
            </a:r>
            <a:r>
              <a:rPr lang="en-US" sz="1500" b="1" dirty="0">
                <a:solidFill>
                  <a:srgbClr val="12303F"/>
                </a:solidFill>
                <a:latin typeface="Cambria" pitchFamily="34" charset="0"/>
                <a:ea typeface="Cambria" pitchFamily="34" charset="-122"/>
                <a:cs typeface="Cambria" pitchFamily="34" charset="-120"/>
              </a:rPr>
              <a:t> ,    I</a:t>
            </a:r>
            <a:r>
              <a:rPr lang="en-US" sz="1500" b="1" baseline="-40000" dirty="0">
                <a:solidFill>
                  <a:srgbClr val="12303F"/>
                </a:solidFill>
                <a:latin typeface="Cambria" pitchFamily="34" charset="0"/>
                <a:ea typeface="Cambria" pitchFamily="34" charset="-122"/>
                <a:cs typeface="Cambria" pitchFamily="34" charset="-120"/>
              </a:rPr>
              <a:t>F</a:t>
            </a:r>
            <a:r>
              <a:rPr lang="en-US" sz="1500" b="1" dirty="0">
                <a:solidFill>
                  <a:srgbClr val="12303F"/>
                </a:solidFill>
                <a:latin typeface="Cambria" pitchFamily="34" charset="0"/>
                <a:ea typeface="Cambria" pitchFamily="34" charset="-122"/>
                <a:cs typeface="Cambria" pitchFamily="34" charset="-120"/>
              </a:rPr>
              <a:t> + I</a:t>
            </a:r>
            <a:r>
              <a:rPr lang="en-US" sz="1500" b="1" baseline="-40000" dirty="0">
                <a:solidFill>
                  <a:srgbClr val="12303F"/>
                </a:solidFill>
                <a:latin typeface="Cambria" pitchFamily="34" charset="0"/>
                <a:ea typeface="Cambria" pitchFamily="34" charset="-122"/>
                <a:cs typeface="Cambria" pitchFamily="34" charset="-120"/>
              </a:rPr>
              <a:t>B</a:t>
            </a:r>
            <a:r>
              <a:rPr lang="en-US" sz="1500" b="1" dirty="0">
                <a:solidFill>
                  <a:srgbClr val="12303F"/>
                </a:solidFill>
                <a:latin typeface="Cambria" pitchFamily="34" charset="0"/>
                <a:ea typeface="Cambria" pitchFamily="34" charset="-122"/>
                <a:cs typeface="Cambria" pitchFamily="34" charset="-120"/>
              </a:rPr>
              <a:t> = I</a:t>
            </a:r>
            <a:r>
              <a:rPr lang="en-US" sz="1500" b="1" baseline="-40000" dirty="0">
                <a:solidFill>
                  <a:srgbClr val="12303F"/>
                </a:solidFill>
                <a:latin typeface="Cambria" pitchFamily="34" charset="0"/>
                <a:ea typeface="Cambria" pitchFamily="34" charset="-122"/>
                <a:cs typeface="Cambria" pitchFamily="34" charset="-120"/>
              </a:rPr>
              <a:t>tot</a:t>
            </a:r>
            <a:endParaRPr lang="en-US" sz="1500" dirty="0"/>
          </a:p>
        </p:txBody>
      </p:sp>
      <p:sp>
        <p:nvSpPr>
          <p:cNvPr id="7" name="Text 5"/>
          <p:cNvSpPr/>
          <p:nvPr/>
        </p:nvSpPr>
        <p:spPr>
          <a:xfrm>
            <a:off x="777240" y="2121408"/>
            <a:ext cx="6172200" cy="237744"/>
          </a:xfrm>
          <a:prstGeom prst="rect">
            <a:avLst/>
          </a:prstGeom>
          <a:noFill/>
          <a:ln/>
        </p:spPr>
        <p:txBody>
          <a:bodyPr wrap="square" lIns="0" tIns="0" rIns="0" bIns="0" rtlCol="0" anchor="ctr"/>
          <a:lstStyle/>
          <a:p>
            <a:pPr marL="0" indent="0">
              <a:buNone/>
            </a:pPr>
            <a:r>
              <a:rPr lang="en-US" sz="1200" dirty="0">
                <a:solidFill>
                  <a:srgbClr val="6B7C87"/>
                </a:solidFill>
                <a:latin typeface="Calibri" pitchFamily="34" charset="0"/>
                <a:ea typeface="Calibri" pitchFamily="34" charset="-122"/>
                <a:cs typeface="Calibri" pitchFamily="34" charset="-120"/>
              </a:rPr>
              <a:t>Command the two resistances as a ratio r:</a:t>
            </a:r>
            <a:endParaRPr lang="en-US" sz="1200" dirty="0"/>
          </a:p>
        </p:txBody>
      </p:sp>
      <p:sp>
        <p:nvSpPr>
          <p:cNvPr id="8" name="Text 6"/>
          <p:cNvSpPr/>
          <p:nvPr/>
        </p:nvSpPr>
        <p:spPr>
          <a:xfrm>
            <a:off x="777240" y="2395728"/>
            <a:ext cx="6172200" cy="274320"/>
          </a:xfrm>
          <a:prstGeom prst="rect">
            <a:avLst/>
          </a:prstGeom>
          <a:noFill/>
          <a:ln/>
        </p:spPr>
        <p:txBody>
          <a:bodyPr wrap="square" lIns="0" tIns="0" rIns="0" bIns="0" rtlCol="0" anchor="ctr"/>
          <a:lstStyle/>
          <a:p>
            <a:pPr marL="0" indent="0">
              <a:buNone/>
            </a:pPr>
            <a:r>
              <a:rPr lang="en-US" sz="1500" b="1" dirty="0">
                <a:solidFill>
                  <a:srgbClr val="12303F"/>
                </a:solidFill>
                <a:latin typeface="Cambria" pitchFamily="34" charset="0"/>
                <a:ea typeface="Cambria" pitchFamily="34" charset="-122"/>
                <a:cs typeface="Cambria" pitchFamily="34" charset="-120"/>
              </a:rPr>
              <a:t>R</a:t>
            </a:r>
            <a:r>
              <a:rPr lang="en-US" sz="1500" b="1" baseline="-40000" dirty="0">
                <a:solidFill>
                  <a:srgbClr val="12303F"/>
                </a:solidFill>
                <a:latin typeface="Cambria" pitchFamily="34" charset="0"/>
                <a:ea typeface="Cambria" pitchFamily="34" charset="-122"/>
                <a:cs typeface="Cambria" pitchFamily="34" charset="-120"/>
              </a:rPr>
              <a:t>F</a:t>
            </a:r>
            <a:r>
              <a:rPr lang="en-US" sz="1500" b="1" dirty="0">
                <a:solidFill>
                  <a:srgbClr val="12303F"/>
                </a:solidFill>
                <a:latin typeface="Cambria" pitchFamily="34" charset="0"/>
                <a:ea typeface="Cambria" pitchFamily="34" charset="-122"/>
                <a:cs typeface="Cambria" pitchFamily="34" charset="-120"/>
              </a:rPr>
              <a:t> = k</a:t>
            </a:r>
            <a:r>
              <a:rPr lang="en-US" sz="1500" b="1" baseline="-40000" dirty="0">
                <a:solidFill>
                  <a:srgbClr val="12303F"/>
                </a:solidFill>
                <a:latin typeface="Cambria" pitchFamily="34" charset="0"/>
                <a:ea typeface="Cambria" pitchFamily="34" charset="-122"/>
                <a:cs typeface="Cambria" pitchFamily="34" charset="-120"/>
              </a:rPr>
              <a:t>d</a:t>
            </a:r>
            <a:r>
              <a:rPr lang="en-US" sz="1500" b="1" dirty="0">
                <a:solidFill>
                  <a:srgbClr val="12303F"/>
                </a:solidFill>
                <a:latin typeface="Cambria" pitchFamily="34" charset="0"/>
                <a:ea typeface="Cambria" pitchFamily="34" charset="-122"/>
                <a:cs typeface="Cambria" pitchFamily="34" charset="-120"/>
              </a:rPr>
              <a:t>/r ,   R</a:t>
            </a:r>
            <a:r>
              <a:rPr lang="en-US" sz="1500" b="1" baseline="-40000" dirty="0">
                <a:solidFill>
                  <a:srgbClr val="12303F"/>
                </a:solidFill>
                <a:latin typeface="Cambria" pitchFamily="34" charset="0"/>
                <a:ea typeface="Cambria" pitchFamily="34" charset="-122"/>
                <a:cs typeface="Cambria" pitchFamily="34" charset="-120"/>
              </a:rPr>
              <a:t>B</a:t>
            </a:r>
            <a:r>
              <a:rPr lang="en-US" sz="1500" b="1" dirty="0">
                <a:solidFill>
                  <a:srgbClr val="12303F"/>
                </a:solidFill>
                <a:latin typeface="Cambria" pitchFamily="34" charset="0"/>
                <a:ea typeface="Cambria" pitchFamily="34" charset="-122"/>
                <a:cs typeface="Cambria" pitchFamily="34" charset="-120"/>
              </a:rPr>
              <a:t> = k</a:t>
            </a:r>
            <a:r>
              <a:rPr lang="en-US" sz="1500" b="1" baseline="-40000" dirty="0">
                <a:solidFill>
                  <a:srgbClr val="12303F"/>
                </a:solidFill>
                <a:latin typeface="Cambria" pitchFamily="34" charset="0"/>
                <a:ea typeface="Cambria" pitchFamily="34" charset="-122"/>
                <a:cs typeface="Cambria" pitchFamily="34" charset="-120"/>
              </a:rPr>
              <a:t>d</a:t>
            </a:r>
            <a:r>
              <a:rPr lang="en-US" sz="1500" b="1" dirty="0">
                <a:solidFill>
                  <a:srgbClr val="12303F"/>
                </a:solidFill>
                <a:latin typeface="Cambria" pitchFamily="34" charset="0"/>
                <a:ea typeface="Cambria" pitchFamily="34" charset="-122"/>
                <a:cs typeface="Cambria" pitchFamily="34" charset="-120"/>
              </a:rPr>
              <a:t>/(1−r)    ⇒    R</a:t>
            </a:r>
            <a:r>
              <a:rPr lang="en-US" sz="1500" b="1" baseline="-40000" dirty="0">
                <a:solidFill>
                  <a:srgbClr val="12303F"/>
                </a:solidFill>
                <a:latin typeface="Cambria" pitchFamily="34" charset="0"/>
                <a:ea typeface="Cambria" pitchFamily="34" charset="-122"/>
                <a:cs typeface="Cambria" pitchFamily="34" charset="-120"/>
              </a:rPr>
              <a:t>F</a:t>
            </a:r>
            <a:r>
              <a:rPr lang="en-US" sz="1500" b="1" dirty="0">
                <a:solidFill>
                  <a:srgbClr val="12303F"/>
                </a:solidFill>
                <a:latin typeface="Cambria" pitchFamily="34" charset="0"/>
                <a:ea typeface="Cambria" pitchFamily="34" charset="-122"/>
                <a:cs typeface="Cambria" pitchFamily="34" charset="-120"/>
              </a:rPr>
              <a:t> ∥ R</a:t>
            </a:r>
            <a:r>
              <a:rPr lang="en-US" sz="1500" b="1" baseline="-40000" dirty="0">
                <a:solidFill>
                  <a:srgbClr val="12303F"/>
                </a:solidFill>
                <a:latin typeface="Cambria" pitchFamily="34" charset="0"/>
                <a:ea typeface="Cambria" pitchFamily="34" charset="-122"/>
                <a:cs typeface="Cambria" pitchFamily="34" charset="-120"/>
              </a:rPr>
              <a:t>B</a:t>
            </a:r>
            <a:r>
              <a:rPr lang="en-US" sz="1500" b="1" dirty="0">
                <a:solidFill>
                  <a:srgbClr val="12303F"/>
                </a:solidFill>
                <a:latin typeface="Cambria" pitchFamily="34" charset="0"/>
                <a:ea typeface="Cambria" pitchFamily="34" charset="-122"/>
                <a:cs typeface="Cambria" pitchFamily="34" charset="-120"/>
              </a:rPr>
              <a:t> = k</a:t>
            </a:r>
            <a:r>
              <a:rPr lang="en-US" sz="1500" b="1" baseline="-40000" dirty="0">
                <a:solidFill>
                  <a:srgbClr val="12303F"/>
                </a:solidFill>
                <a:latin typeface="Cambria" pitchFamily="34" charset="0"/>
                <a:ea typeface="Cambria" pitchFamily="34" charset="-122"/>
                <a:cs typeface="Cambria" pitchFamily="34" charset="-120"/>
              </a:rPr>
              <a:t>d</a:t>
            </a:r>
            <a:r>
              <a:rPr lang="en-US" sz="1500" b="1" dirty="0">
                <a:solidFill>
                  <a:srgbClr val="12303F"/>
                </a:solidFill>
                <a:latin typeface="Cambria" pitchFamily="34" charset="0"/>
                <a:ea typeface="Cambria" pitchFamily="34" charset="-122"/>
                <a:cs typeface="Cambria" pitchFamily="34" charset="-120"/>
              </a:rPr>
              <a:t> ,  independent of r</a:t>
            </a:r>
            <a:endParaRPr lang="en-US" sz="1500" dirty="0"/>
          </a:p>
        </p:txBody>
      </p:sp>
      <p:sp>
        <p:nvSpPr>
          <p:cNvPr id="9" name="Text 7"/>
          <p:cNvSpPr/>
          <p:nvPr/>
        </p:nvSpPr>
        <p:spPr>
          <a:xfrm>
            <a:off x="777240" y="2798064"/>
            <a:ext cx="6172200" cy="566928"/>
          </a:xfrm>
          <a:prstGeom prst="rect">
            <a:avLst/>
          </a:prstGeom>
          <a:solidFill>
            <a:srgbClr val="12303F"/>
          </a:solidFill>
          <a:ln/>
        </p:spPr>
        <p:txBody>
          <a:bodyPr wrap="square" lIns="0" tIns="0" rIns="0" bIns="0" rtlCol="0" anchor="ctr"/>
          <a:lstStyle/>
          <a:p>
            <a:pPr marL="0" indent="0" algn="ctr">
              <a:buNone/>
            </a:pPr>
            <a:r>
              <a:rPr lang="en-US" sz="2100" b="1" dirty="0">
                <a:solidFill>
                  <a:srgbClr val="FFFFFF"/>
                </a:solidFill>
                <a:latin typeface="Cambria" pitchFamily="34" charset="0"/>
                <a:ea typeface="Cambria" pitchFamily="34" charset="-122"/>
                <a:cs typeface="Cambria" pitchFamily="34" charset="-120"/>
              </a:rPr>
              <a:t>α  =  I</a:t>
            </a:r>
            <a:r>
              <a:rPr lang="en-US" sz="2100" b="1" baseline="-40000" dirty="0">
                <a:solidFill>
                  <a:srgbClr val="FFFFFF"/>
                </a:solidFill>
                <a:latin typeface="Cambria" pitchFamily="34" charset="0"/>
                <a:ea typeface="Cambria" pitchFamily="34" charset="-122"/>
                <a:cs typeface="Cambria" pitchFamily="34" charset="-120"/>
              </a:rPr>
              <a:t>F</a:t>
            </a:r>
            <a:r>
              <a:rPr lang="en-US" sz="2100" b="1" dirty="0">
                <a:solidFill>
                  <a:srgbClr val="FFFFFF"/>
                </a:solidFill>
                <a:latin typeface="Cambria" pitchFamily="34" charset="0"/>
                <a:ea typeface="Cambria" pitchFamily="34" charset="-122"/>
                <a:cs typeface="Cambria" pitchFamily="34" charset="-120"/>
              </a:rPr>
              <a:t> / I</a:t>
            </a:r>
            <a:r>
              <a:rPr lang="en-US" sz="2100" b="1" baseline="-40000" dirty="0">
                <a:solidFill>
                  <a:srgbClr val="FFFFFF"/>
                </a:solidFill>
                <a:latin typeface="Cambria" pitchFamily="34" charset="0"/>
                <a:ea typeface="Cambria" pitchFamily="34" charset="-122"/>
                <a:cs typeface="Cambria" pitchFamily="34" charset="-120"/>
              </a:rPr>
              <a:t>tot</a:t>
            </a:r>
            <a:r>
              <a:rPr lang="en-US" sz="2100" b="1" dirty="0">
                <a:solidFill>
                  <a:srgbClr val="FFFFFF"/>
                </a:solidFill>
                <a:latin typeface="Cambria" pitchFamily="34" charset="0"/>
                <a:ea typeface="Cambria" pitchFamily="34" charset="-122"/>
                <a:cs typeface="Cambria" pitchFamily="34" charset="-120"/>
              </a:rPr>
              <a:t>  =  r  +  ΔV</a:t>
            </a:r>
            <a:r>
              <a:rPr lang="en-US" sz="2100" b="1" baseline="-40000" dirty="0">
                <a:solidFill>
                  <a:srgbClr val="FFFFFF"/>
                </a:solidFill>
                <a:latin typeface="Cambria" pitchFamily="34" charset="0"/>
                <a:ea typeface="Cambria" pitchFamily="34" charset="-122"/>
                <a:cs typeface="Cambria" pitchFamily="34" charset="-120"/>
              </a:rPr>
              <a:t>0</a:t>
            </a:r>
            <a:r>
              <a:rPr lang="en-US" sz="2100" b="1" dirty="0">
                <a:solidFill>
                  <a:srgbClr val="FFFFFF"/>
                </a:solidFill>
                <a:latin typeface="Cambria" pitchFamily="34" charset="0"/>
                <a:ea typeface="Cambria" pitchFamily="34" charset="-122"/>
                <a:cs typeface="Cambria" pitchFamily="34" charset="-120"/>
              </a:rPr>
              <a:t>·r(1−r) / (k</a:t>
            </a:r>
            <a:r>
              <a:rPr lang="en-US" sz="2100" b="1" baseline="-40000" dirty="0">
                <a:solidFill>
                  <a:srgbClr val="FFFFFF"/>
                </a:solidFill>
                <a:latin typeface="Cambria" pitchFamily="34" charset="0"/>
                <a:ea typeface="Cambria" pitchFamily="34" charset="-122"/>
                <a:cs typeface="Cambria" pitchFamily="34" charset="-120"/>
              </a:rPr>
              <a:t>d</a:t>
            </a:r>
            <a:r>
              <a:rPr lang="en-US" sz="2100" b="1" dirty="0">
                <a:solidFill>
                  <a:srgbClr val="FFFFFF"/>
                </a:solidFill>
                <a:latin typeface="Cambria" pitchFamily="34" charset="0"/>
                <a:ea typeface="Cambria" pitchFamily="34" charset="-122"/>
                <a:cs typeface="Cambria" pitchFamily="34" charset="-120"/>
              </a:rPr>
              <a:t>·I</a:t>
            </a:r>
            <a:r>
              <a:rPr lang="en-US" sz="2100" b="1" baseline="-40000" dirty="0">
                <a:solidFill>
                  <a:srgbClr val="FFFFFF"/>
                </a:solidFill>
                <a:latin typeface="Cambria" pitchFamily="34" charset="0"/>
                <a:ea typeface="Cambria" pitchFamily="34" charset="-122"/>
                <a:cs typeface="Cambria" pitchFamily="34" charset="-120"/>
              </a:rPr>
              <a:t>tot</a:t>
            </a:r>
            <a:r>
              <a:rPr lang="en-US" sz="2100" b="1" dirty="0">
                <a:solidFill>
                  <a:srgbClr val="FFFFFF"/>
                </a:solidFill>
                <a:latin typeface="Cambria" pitchFamily="34" charset="0"/>
                <a:ea typeface="Cambria" pitchFamily="34" charset="-122"/>
                <a:cs typeface="Cambria" pitchFamily="34" charset="-120"/>
              </a:rPr>
              <a:t>)</a:t>
            </a:r>
            <a:endParaRPr lang="en-US" sz="2100" dirty="0"/>
          </a:p>
        </p:txBody>
      </p:sp>
      <p:sp>
        <p:nvSpPr>
          <p:cNvPr id="10" name="Text 8"/>
          <p:cNvSpPr/>
          <p:nvPr/>
        </p:nvSpPr>
        <p:spPr>
          <a:xfrm>
            <a:off x="777240" y="3493008"/>
            <a:ext cx="6172200" cy="365760"/>
          </a:xfrm>
          <a:prstGeom prst="rect">
            <a:avLst/>
          </a:prstGeom>
          <a:noFill/>
          <a:ln/>
        </p:spPr>
        <p:txBody>
          <a:bodyPr wrap="square" lIns="0" tIns="0" rIns="0" bIns="0" rtlCol="0" anchor="ctr"/>
          <a:lstStyle/>
          <a:p>
            <a:pPr marL="0" indent="0">
              <a:buNone/>
            </a:pPr>
            <a:r>
              <a:rPr lang="en-US" sz="1150" dirty="0">
                <a:solidFill>
                  <a:srgbClr val="6B7C87"/>
                </a:solidFill>
                <a:latin typeface="Calibri" pitchFamily="34" charset="0"/>
                <a:ea typeface="Calibri" pitchFamily="34" charset="-122"/>
                <a:cs typeface="Calibri" pitchFamily="34" charset="-120"/>
              </a:rPr>
              <a:t>Actuator limit: g ≤ 1 bounds k</a:t>
            </a:r>
            <a:r>
              <a:rPr lang="en-US" sz="1150" baseline="-40000" dirty="0">
                <a:solidFill>
                  <a:srgbClr val="6B7C87"/>
                </a:solidFill>
                <a:latin typeface="Calibri" pitchFamily="34" charset="0"/>
                <a:ea typeface="Calibri" pitchFamily="34" charset="-122"/>
                <a:cs typeface="Calibri" pitchFamily="34" charset="-120"/>
              </a:rPr>
              <a:t>d</a:t>
            </a:r>
            <a:r>
              <a:rPr lang="en-US" sz="1150" dirty="0">
                <a:solidFill>
                  <a:srgbClr val="6B7C87"/>
                </a:solidFill>
                <a:latin typeface="Calibri" pitchFamily="34" charset="0"/>
                <a:ea typeface="Calibri" pitchFamily="34" charset="-122"/>
                <a:cs typeface="Calibri" pitchFamily="34" charset="-120"/>
              </a:rPr>
              <a:t> ≤ R</a:t>
            </a:r>
            <a:r>
              <a:rPr lang="en-US" sz="1150" baseline="-40000" dirty="0">
                <a:solidFill>
                  <a:srgbClr val="6B7C87"/>
                </a:solidFill>
                <a:latin typeface="Calibri" pitchFamily="34" charset="0"/>
                <a:ea typeface="Calibri" pitchFamily="34" charset="-122"/>
                <a:cs typeface="Calibri" pitchFamily="34" charset="-120"/>
              </a:rPr>
              <a:t>e,max</a:t>
            </a:r>
            <a:r>
              <a:rPr lang="en-US" sz="1150" dirty="0">
                <a:solidFill>
                  <a:srgbClr val="6B7C87"/>
                </a:solidFill>
                <a:latin typeface="Calibri" pitchFamily="34" charset="0"/>
                <a:ea typeface="Calibri" pitchFamily="34" charset="-122"/>
                <a:cs typeface="Calibri" pitchFamily="34" charset="-120"/>
              </a:rPr>
              <a:t>·r</a:t>
            </a:r>
            <a:r>
              <a:rPr lang="en-US" sz="1150" baseline="-40000" dirty="0">
                <a:solidFill>
                  <a:srgbClr val="6B7C87"/>
                </a:solidFill>
                <a:latin typeface="Calibri" pitchFamily="34" charset="0"/>
                <a:ea typeface="Calibri" pitchFamily="34" charset="-122"/>
                <a:cs typeface="Calibri" pitchFamily="34" charset="-120"/>
              </a:rPr>
              <a:t>min</a:t>
            </a:r>
            <a:r>
              <a:rPr lang="en-US" sz="1150" dirty="0">
                <a:solidFill>
                  <a:srgbClr val="6B7C87"/>
                </a:solidFill>
                <a:latin typeface="Calibri" pitchFamily="34" charset="0"/>
                <a:ea typeface="Calibri" pitchFamily="34" charset="-122"/>
                <a:cs typeface="Calibri" pitchFamily="34" charset="-120"/>
              </a:rPr>
              <a:t>. Chose k</a:t>
            </a:r>
            <a:r>
              <a:rPr lang="en-US" sz="1150" baseline="-40000" dirty="0">
                <a:solidFill>
                  <a:srgbClr val="6B7C87"/>
                </a:solidFill>
                <a:latin typeface="Calibri" pitchFamily="34" charset="0"/>
                <a:ea typeface="Calibri" pitchFamily="34" charset="-122"/>
                <a:cs typeface="Calibri" pitchFamily="34" charset="-120"/>
              </a:rPr>
              <a:t>d</a:t>
            </a:r>
            <a:r>
              <a:rPr lang="en-US" sz="1150" dirty="0">
                <a:solidFill>
                  <a:srgbClr val="6B7C87"/>
                </a:solidFill>
                <a:latin typeface="Calibri" pitchFamily="34" charset="0"/>
                <a:ea typeface="Calibri" pitchFamily="34" charset="-122"/>
                <a:cs typeface="Calibri" pitchFamily="34" charset="-120"/>
              </a:rPr>
              <a:t> = 0.30 Ω over r ∈ [0.15, 0.85], leaving max g = 0.993.</a:t>
            </a:r>
            <a:endParaRPr lang="en-US" sz="1150" dirty="0"/>
          </a:p>
        </p:txBody>
      </p:sp>
      <p:sp>
        <p:nvSpPr>
          <p:cNvPr id="11" name="Shape 9"/>
          <p:cNvSpPr/>
          <p:nvPr/>
        </p:nvSpPr>
        <p:spPr>
          <a:xfrm>
            <a:off x="7498080" y="1325880"/>
            <a:ext cx="4187952" cy="3017520"/>
          </a:xfrm>
          <a:prstGeom prst="roundRect">
            <a:avLst>
              <a:gd name="adj" fmla="val 2424"/>
            </a:avLst>
          </a:prstGeom>
          <a:solidFill>
            <a:srgbClr val="FFFFFF"/>
          </a:solidFill>
          <a:ln w="9525">
            <a:solidFill>
              <a:srgbClr val="DCE3E7"/>
            </a:solidFill>
            <a:prstDash val="solid"/>
          </a:ln>
          <a:effectLst>
            <a:outerShdw blurRad="101600" dist="12700" dir="5400000" algn="bl" rotWithShape="0">
              <a:srgbClr val="203040">
                <a:alpha val="8000"/>
              </a:srgbClr>
            </a:outerShdw>
          </a:effectLst>
        </p:spPr>
        <p:txBody>
          <a:bodyPr/>
          <a:lstStyle/>
          <a:p>
            <a:endParaRPr lang="en-US"/>
          </a:p>
        </p:txBody>
      </p:sp>
      <p:sp>
        <p:nvSpPr>
          <p:cNvPr id="12" name="Text 10"/>
          <p:cNvSpPr/>
          <p:nvPr/>
        </p:nvSpPr>
        <p:spPr>
          <a:xfrm>
            <a:off x="7772400" y="1463040"/>
            <a:ext cx="3657600" cy="237744"/>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What the equation says</a:t>
            </a:r>
            <a:endParaRPr lang="en-US" sz="1300" dirty="0"/>
          </a:p>
        </p:txBody>
      </p:sp>
      <p:sp>
        <p:nvSpPr>
          <p:cNvPr id="13" name="Text 11"/>
          <p:cNvSpPr/>
          <p:nvPr/>
        </p:nvSpPr>
        <p:spPr>
          <a:xfrm>
            <a:off x="7772400" y="1773936"/>
            <a:ext cx="3657600" cy="219456"/>
          </a:xfrm>
          <a:prstGeom prst="rect">
            <a:avLst/>
          </a:prstGeom>
          <a:noFill/>
          <a:ln/>
        </p:spPr>
        <p:txBody>
          <a:bodyPr wrap="square" lIns="0" tIns="0" rIns="0" bIns="0" rtlCol="0" anchor="ctr"/>
          <a:lstStyle/>
          <a:p>
            <a:pPr marL="0" indent="0">
              <a:buNone/>
            </a:pPr>
            <a:r>
              <a:rPr lang="en-US" sz="1250" b="1" dirty="0">
                <a:solidFill>
                  <a:srgbClr val="12303F"/>
                </a:solidFill>
                <a:latin typeface="Calibri" pitchFamily="34" charset="0"/>
                <a:ea typeface="Calibri" pitchFamily="34" charset="-122"/>
                <a:cs typeface="Calibri" pitchFamily="34" charset="-120"/>
              </a:rPr>
              <a:t>Gain is 1</a:t>
            </a:r>
            <a:endParaRPr lang="en-US" sz="1250" dirty="0"/>
          </a:p>
        </p:txBody>
      </p:sp>
      <p:sp>
        <p:nvSpPr>
          <p:cNvPr id="14" name="Text 12"/>
          <p:cNvSpPr/>
          <p:nvPr/>
        </p:nvSpPr>
        <p:spPr>
          <a:xfrm>
            <a:off x="7772400" y="1993392"/>
            <a:ext cx="3703320" cy="566928"/>
          </a:xfrm>
          <a:prstGeom prst="rect">
            <a:avLst/>
          </a:prstGeom>
          <a:noFill/>
          <a:ln/>
        </p:spPr>
        <p:txBody>
          <a:bodyPr wrap="square" lIns="0" tIns="0" rIns="0" bIns="0" rtlCol="0" anchor="ctr"/>
          <a:lstStyle/>
          <a:p>
            <a:pPr marL="0" indent="0">
              <a:buNone/>
            </a:pPr>
            <a:r>
              <a:rPr lang="en-US" sz="1100" dirty="0">
                <a:solidFill>
                  <a:srgbClr val="6B7C87"/>
                </a:solidFill>
                <a:latin typeface="Calibri" pitchFamily="34" charset="0"/>
                <a:ea typeface="Calibri" pitchFamily="34" charset="-122"/>
                <a:cs typeface="Calibri" pitchFamily="34" charset="-120"/>
              </a:rPr>
              <a:t>α = r exactly, when the two no-load voltages match.</a:t>
            </a:r>
            <a:endParaRPr lang="en-US" sz="1100" dirty="0"/>
          </a:p>
        </p:txBody>
      </p:sp>
      <p:sp>
        <p:nvSpPr>
          <p:cNvPr id="15" name="Text 13"/>
          <p:cNvSpPr/>
          <p:nvPr/>
        </p:nvSpPr>
        <p:spPr>
          <a:xfrm>
            <a:off x="7772400" y="2624328"/>
            <a:ext cx="3657600" cy="219456"/>
          </a:xfrm>
          <a:prstGeom prst="rect">
            <a:avLst/>
          </a:prstGeom>
          <a:noFill/>
          <a:ln/>
        </p:spPr>
        <p:txBody>
          <a:bodyPr wrap="square" lIns="0" tIns="0" rIns="0" bIns="0" rtlCol="0" anchor="ctr"/>
          <a:lstStyle/>
          <a:p>
            <a:pPr marL="0" indent="0">
              <a:buNone/>
            </a:pPr>
            <a:r>
              <a:rPr lang="en-US" sz="1250" b="1" dirty="0">
                <a:solidFill>
                  <a:srgbClr val="12303F"/>
                </a:solidFill>
                <a:latin typeface="Calibri" pitchFamily="34" charset="0"/>
                <a:ea typeface="Calibri" pitchFamily="34" charset="-122"/>
                <a:cs typeface="Calibri" pitchFamily="34" charset="-120"/>
              </a:rPr>
              <a:t>Mismatch is a DC disturbance</a:t>
            </a:r>
            <a:endParaRPr lang="en-US" sz="1250" dirty="0"/>
          </a:p>
        </p:txBody>
      </p:sp>
      <p:sp>
        <p:nvSpPr>
          <p:cNvPr id="16" name="Text 14"/>
          <p:cNvSpPr/>
          <p:nvPr/>
        </p:nvSpPr>
        <p:spPr>
          <a:xfrm>
            <a:off x="7772400" y="2843784"/>
            <a:ext cx="3703320" cy="566928"/>
          </a:xfrm>
          <a:prstGeom prst="rect">
            <a:avLst/>
          </a:prstGeom>
          <a:noFill/>
          <a:ln/>
        </p:spPr>
        <p:txBody>
          <a:bodyPr wrap="square" lIns="0" tIns="0" rIns="0" bIns="0" rtlCol="0" anchor="ctr"/>
          <a:lstStyle/>
          <a:p>
            <a:pPr marL="0" indent="0">
              <a:buNone/>
            </a:pPr>
            <a:r>
              <a:rPr lang="en-US" sz="1100" dirty="0">
                <a:solidFill>
                  <a:srgbClr val="6B7C87"/>
                </a:solidFill>
                <a:latin typeface="Calibri" pitchFamily="34" charset="0"/>
                <a:ea typeface="Calibri" pitchFamily="34" charset="-122"/>
                <a:cs typeface="Calibri" pitchFamily="34" charset="-120"/>
              </a:rPr>
              <a:t>ΔV</a:t>
            </a:r>
            <a:r>
              <a:rPr lang="en-US" sz="1100" baseline="-40000" dirty="0">
                <a:solidFill>
                  <a:srgbClr val="6B7C87"/>
                </a:solidFill>
                <a:latin typeface="Calibri" pitchFamily="34" charset="0"/>
                <a:ea typeface="Calibri" pitchFamily="34" charset="-122"/>
                <a:cs typeface="Calibri" pitchFamily="34" charset="-120"/>
              </a:rPr>
              <a:t>0</a:t>
            </a:r>
            <a:r>
              <a:rPr lang="en-US" sz="1100" dirty="0">
                <a:solidFill>
                  <a:srgbClr val="6B7C87"/>
                </a:solidFill>
                <a:latin typeface="Calibri" pitchFamily="34" charset="0"/>
                <a:ea typeface="Calibri" pitchFamily="34" charset="-122"/>
                <a:cs typeface="Calibri" pitchFamily="34" charset="-120"/>
              </a:rPr>
              <a:t> ≈ ±0.4 V ⇒ d ≈ 0.17 share at 2 A. Worst at r = 0.5 and light load. Needs integral action.</a:t>
            </a:r>
            <a:endParaRPr lang="en-US" sz="1100" dirty="0"/>
          </a:p>
        </p:txBody>
      </p:sp>
      <p:sp>
        <p:nvSpPr>
          <p:cNvPr id="17" name="Text 15"/>
          <p:cNvSpPr/>
          <p:nvPr/>
        </p:nvSpPr>
        <p:spPr>
          <a:xfrm>
            <a:off x="7772400" y="3474720"/>
            <a:ext cx="3657600" cy="219456"/>
          </a:xfrm>
          <a:prstGeom prst="rect">
            <a:avLst/>
          </a:prstGeom>
          <a:noFill/>
          <a:ln/>
        </p:spPr>
        <p:txBody>
          <a:bodyPr wrap="square" lIns="0" tIns="0" rIns="0" bIns="0" rtlCol="0" anchor="ctr"/>
          <a:lstStyle/>
          <a:p>
            <a:pPr marL="0" indent="0">
              <a:buNone/>
            </a:pPr>
            <a:r>
              <a:rPr lang="en-US" sz="1250" b="1" dirty="0">
                <a:solidFill>
                  <a:srgbClr val="12303F"/>
                </a:solidFill>
                <a:latin typeface="Calibri" pitchFamily="34" charset="0"/>
                <a:ea typeface="Calibri" pitchFamily="34" charset="-122"/>
                <a:cs typeface="Calibri" pitchFamily="34" charset="-120"/>
              </a:rPr>
              <a:t>Mismatch also moves the gain</a:t>
            </a:r>
            <a:endParaRPr lang="en-US" sz="1250" dirty="0"/>
          </a:p>
        </p:txBody>
      </p:sp>
      <p:sp>
        <p:nvSpPr>
          <p:cNvPr id="18" name="Text 16"/>
          <p:cNvSpPr/>
          <p:nvPr/>
        </p:nvSpPr>
        <p:spPr>
          <a:xfrm>
            <a:off x="7772400" y="3694176"/>
            <a:ext cx="3703320" cy="566928"/>
          </a:xfrm>
          <a:prstGeom prst="rect">
            <a:avLst/>
          </a:prstGeom>
          <a:noFill/>
          <a:ln/>
        </p:spPr>
        <p:txBody>
          <a:bodyPr wrap="square" lIns="0" tIns="0" rIns="0" bIns="0" rtlCol="0" anchor="ctr"/>
          <a:lstStyle/>
          <a:p>
            <a:pPr marL="0" indent="0">
              <a:buNone/>
            </a:pPr>
            <a:r>
              <a:rPr lang="en-US" sz="1100" dirty="0">
                <a:solidFill>
                  <a:srgbClr val="6B7C87"/>
                </a:solidFill>
                <a:latin typeface="Calibri" pitchFamily="34" charset="0"/>
                <a:ea typeface="Calibri" pitchFamily="34" charset="-122"/>
                <a:cs typeface="Calibri" pitchFamily="34" charset="-120"/>
              </a:rPr>
              <a:t>∂α/∂r = 1 + ΔV</a:t>
            </a:r>
            <a:r>
              <a:rPr lang="en-US" sz="1100" baseline="-40000" dirty="0">
                <a:solidFill>
                  <a:srgbClr val="6B7C87"/>
                </a:solidFill>
                <a:latin typeface="Calibri" pitchFamily="34" charset="0"/>
                <a:ea typeface="Calibri" pitchFamily="34" charset="-122"/>
                <a:cs typeface="Calibri" pitchFamily="34" charset="-120"/>
              </a:rPr>
              <a:t>0</a:t>
            </a:r>
            <a:r>
              <a:rPr lang="en-US" sz="1100" dirty="0">
                <a:solidFill>
                  <a:srgbClr val="6B7C87"/>
                </a:solidFill>
                <a:latin typeface="Calibri" pitchFamily="34" charset="0"/>
                <a:ea typeface="Calibri" pitchFamily="34" charset="-122"/>
                <a:cs typeface="Calibri" pitchFamily="34" charset="-120"/>
              </a:rPr>
              <a:t>(1−2r)/(k</a:t>
            </a:r>
            <a:r>
              <a:rPr lang="en-US" sz="1100" baseline="-40000" dirty="0">
                <a:solidFill>
                  <a:srgbClr val="6B7C87"/>
                </a:solidFill>
                <a:latin typeface="Calibri" pitchFamily="34" charset="0"/>
                <a:ea typeface="Calibri" pitchFamily="34" charset="-122"/>
                <a:cs typeface="Calibri" pitchFamily="34" charset="-120"/>
              </a:rPr>
              <a:t>d</a:t>
            </a:r>
            <a:r>
              <a:rPr lang="en-US" sz="1100" dirty="0">
                <a:solidFill>
                  <a:srgbClr val="6B7C87"/>
                </a:solidFill>
                <a:latin typeface="Calibri" pitchFamily="34" charset="0"/>
                <a:ea typeface="Calibri" pitchFamily="34" charset="-122"/>
                <a:cs typeface="Calibri" pitchFamily="34" charset="-120"/>
              </a:rPr>
              <a:t>·I</a:t>
            </a:r>
            <a:r>
              <a:rPr lang="en-US" sz="1100" baseline="-40000" dirty="0">
                <a:solidFill>
                  <a:srgbClr val="6B7C87"/>
                </a:solidFill>
                <a:latin typeface="Calibri" pitchFamily="34" charset="0"/>
                <a:ea typeface="Calibri" pitchFamily="34" charset="-122"/>
                <a:cs typeface="Calibri" pitchFamily="34" charset="-120"/>
              </a:rPr>
              <a:t>tot</a:t>
            </a:r>
            <a:r>
              <a:rPr lang="en-US" sz="1100" dirty="0">
                <a:solidFill>
                  <a:srgbClr val="6B7C87"/>
                </a:solidFill>
                <a:latin typeface="Calibri" pitchFamily="34" charset="0"/>
                <a:ea typeface="Calibri" pitchFamily="34" charset="-122"/>
                <a:cs typeface="Calibri" pitchFamily="34" charset="-120"/>
              </a:rPr>
              <a:t>)  ⇒  K ∈ [0.55, 1.45].</a:t>
            </a:r>
            <a:endParaRPr lang="en-US" sz="1100" dirty="0"/>
          </a:p>
        </p:txBody>
      </p:sp>
      <p:sp>
        <p:nvSpPr>
          <p:cNvPr id="19" name="Shape 17"/>
          <p:cNvSpPr/>
          <p:nvPr/>
        </p:nvSpPr>
        <p:spPr>
          <a:xfrm>
            <a:off x="502920" y="4526280"/>
            <a:ext cx="11183112" cy="1874520"/>
          </a:xfrm>
          <a:prstGeom prst="roundRect">
            <a:avLst>
              <a:gd name="adj" fmla="val 3902"/>
            </a:avLst>
          </a:prstGeom>
          <a:solidFill>
            <a:srgbClr val="FFFFFF"/>
          </a:solidFill>
          <a:ln w="9525">
            <a:solidFill>
              <a:srgbClr val="DCE3E7"/>
            </a:solidFill>
            <a:prstDash val="solid"/>
          </a:ln>
          <a:effectLst>
            <a:outerShdw blurRad="101600" dist="12700" dir="5400000" algn="bl" rotWithShape="0">
              <a:srgbClr val="203040">
                <a:alpha val="8000"/>
              </a:srgbClr>
            </a:outerShdw>
          </a:effectLst>
        </p:spPr>
        <p:txBody>
          <a:bodyPr/>
          <a:lstStyle/>
          <a:p>
            <a:endParaRPr lang="en-US"/>
          </a:p>
        </p:txBody>
      </p:sp>
      <p:sp>
        <p:nvSpPr>
          <p:cNvPr id="20" name="Text 18"/>
          <p:cNvSpPr/>
          <p:nvPr/>
        </p:nvSpPr>
        <p:spPr>
          <a:xfrm>
            <a:off x="777240" y="4663440"/>
            <a:ext cx="5486400" cy="237744"/>
          </a:xfrm>
          <a:prstGeom prst="rect">
            <a:avLst/>
          </a:prstGeom>
          <a:noFill/>
          <a:ln/>
        </p:spPr>
        <p:txBody>
          <a:bodyPr wrap="square" lIns="0" tIns="0" rIns="0" bIns="0" rtlCol="0" anchor="ctr"/>
          <a:lstStyle/>
          <a:p>
            <a:pPr marL="0" indent="0">
              <a:buNone/>
            </a:pPr>
            <a:r>
              <a:rPr lang="en-US" sz="1300" b="1" dirty="0">
                <a:solidFill>
                  <a:srgbClr val="1C7293"/>
                </a:solidFill>
                <a:latin typeface="Calibri" pitchFamily="34" charset="0"/>
                <a:ea typeface="Calibri" pitchFamily="34" charset="-122"/>
                <a:cs typeface="Calibri" pitchFamily="34" charset="-120"/>
              </a:rPr>
              <a:t>Dynamics: the statics are instantaneous</a:t>
            </a:r>
            <a:endParaRPr lang="en-US" sz="1300" dirty="0"/>
          </a:p>
        </p:txBody>
      </p:sp>
      <p:sp>
        <p:nvSpPr>
          <p:cNvPr id="21" name="Text 19"/>
          <p:cNvSpPr/>
          <p:nvPr/>
        </p:nvSpPr>
        <p:spPr>
          <a:xfrm>
            <a:off x="777240" y="4937760"/>
            <a:ext cx="6492240" cy="548640"/>
          </a:xfrm>
          <a:prstGeom prst="rect">
            <a:avLst/>
          </a:prstGeom>
          <a:noFill/>
          <a:ln/>
        </p:spPr>
        <p:txBody>
          <a:bodyPr wrap="square" lIns="0" tIns="0" rIns="0" bIns="0" rtlCol="0" anchor="ctr"/>
          <a:lstStyle/>
          <a:p>
            <a:pPr marL="0" indent="0">
              <a:buNone/>
            </a:pPr>
            <a:r>
              <a:rPr lang="en-US" sz="1150" dirty="0">
                <a:solidFill>
                  <a:srgbClr val="1B2A33"/>
                </a:solidFill>
                <a:latin typeface="Calibri" pitchFamily="34" charset="0"/>
                <a:ea typeface="Calibri" pitchFamily="34" charset="-122"/>
                <a:cs typeface="Calibri" pitchFamily="34" charset="-120"/>
              </a:rPr>
              <a:t>With ΔV</a:t>
            </a:r>
            <a:r>
              <a:rPr lang="en-US" sz="1150" baseline="-40000" dirty="0">
                <a:solidFill>
                  <a:srgbClr val="1B2A33"/>
                </a:solidFill>
                <a:latin typeface="Calibri" pitchFamily="34" charset="0"/>
                <a:ea typeface="Calibri" pitchFamily="34" charset="-122"/>
                <a:cs typeface="Calibri" pitchFamily="34" charset="-120"/>
              </a:rPr>
              <a:t>0</a:t>
            </a:r>
            <a:r>
              <a:rPr lang="en-US" sz="1150" dirty="0">
                <a:solidFill>
                  <a:srgbClr val="1B2A33"/>
                </a:solidFill>
                <a:latin typeface="Calibri" pitchFamily="34" charset="0"/>
                <a:ea typeface="Calibri" pitchFamily="34" charset="-122"/>
                <a:cs typeface="Calibri" pitchFamily="34" charset="-120"/>
              </a:rPr>
              <a:t> = 0 both currents carry the same (V</a:t>
            </a:r>
            <a:r>
              <a:rPr lang="en-US" sz="1150" baseline="-40000" dirty="0">
                <a:solidFill>
                  <a:srgbClr val="1B2A33"/>
                </a:solidFill>
                <a:latin typeface="Calibri" pitchFamily="34" charset="0"/>
                <a:ea typeface="Calibri" pitchFamily="34" charset="-122"/>
                <a:cs typeface="Calibri" pitchFamily="34" charset="-120"/>
              </a:rPr>
              <a:t>0</a:t>
            </a:r>
            <a:r>
              <a:rPr lang="en-US" sz="1150" dirty="0">
                <a:solidFill>
                  <a:srgbClr val="1B2A33"/>
                </a:solidFill>
                <a:latin typeface="Calibri" pitchFamily="34" charset="0"/>
                <a:ea typeface="Calibri" pitchFamily="34" charset="-122"/>
                <a:cs typeface="Calibri" pitchFamily="34" charset="-120"/>
              </a:rPr>
              <a:t> − V</a:t>
            </a:r>
            <a:r>
              <a:rPr lang="en-US" sz="1150" baseline="-40000" dirty="0">
                <a:solidFill>
                  <a:srgbClr val="1B2A33"/>
                </a:solidFill>
                <a:latin typeface="Calibri" pitchFamily="34" charset="0"/>
                <a:ea typeface="Calibri" pitchFamily="34" charset="-122"/>
                <a:cs typeface="Calibri" pitchFamily="34" charset="-120"/>
              </a:rPr>
              <a:t>bus</a:t>
            </a:r>
            <a:r>
              <a:rPr lang="en-US" sz="1150" dirty="0">
                <a:solidFill>
                  <a:srgbClr val="1B2A33"/>
                </a:solidFill>
                <a:latin typeface="Calibri" pitchFamily="34" charset="0"/>
                <a:ea typeface="Calibri" pitchFamily="34" charset="-122"/>
                <a:cs typeface="Calibri" pitchFamily="34" charset="-120"/>
              </a:rPr>
              <a:t>) factor, so α = G</a:t>
            </a:r>
            <a:r>
              <a:rPr lang="en-US" sz="1150" baseline="-40000" dirty="0">
                <a:solidFill>
                  <a:srgbClr val="1B2A33"/>
                </a:solidFill>
                <a:latin typeface="Calibri" pitchFamily="34" charset="0"/>
                <a:ea typeface="Calibri" pitchFamily="34" charset="-122"/>
                <a:cs typeface="Calibri" pitchFamily="34" charset="-120"/>
              </a:rPr>
              <a:t>F</a:t>
            </a:r>
            <a:r>
              <a:rPr lang="en-US" sz="1150" dirty="0">
                <a:solidFill>
                  <a:srgbClr val="1B2A33"/>
                </a:solidFill>
                <a:latin typeface="Calibri" pitchFamily="34" charset="0"/>
                <a:ea typeface="Calibri" pitchFamily="34" charset="-122"/>
                <a:cs typeface="Calibri" pitchFamily="34" charset="-120"/>
              </a:rPr>
              <a:t>/(G</a:t>
            </a:r>
            <a:r>
              <a:rPr lang="en-US" sz="1150" baseline="-40000" dirty="0">
                <a:solidFill>
                  <a:srgbClr val="1B2A33"/>
                </a:solidFill>
                <a:latin typeface="Calibri" pitchFamily="34" charset="0"/>
                <a:ea typeface="Calibri" pitchFamily="34" charset="-122"/>
                <a:cs typeface="Calibri" pitchFamily="34" charset="-120"/>
              </a:rPr>
              <a:t>F</a:t>
            </a:r>
            <a:r>
              <a:rPr lang="en-US" sz="1150" dirty="0">
                <a:solidFill>
                  <a:srgbClr val="1B2A33"/>
                </a:solidFill>
                <a:latin typeface="Calibri" pitchFamily="34" charset="0"/>
                <a:ea typeface="Calibri" pitchFamily="34" charset="-122"/>
                <a:cs typeface="Calibri" pitchFamily="34" charset="-120"/>
              </a:rPr>
              <a:t>+G</a:t>
            </a:r>
            <a:r>
              <a:rPr lang="en-US" sz="1150" baseline="-40000" dirty="0">
                <a:solidFill>
                  <a:srgbClr val="1B2A33"/>
                </a:solidFill>
                <a:latin typeface="Calibri" pitchFamily="34" charset="0"/>
                <a:ea typeface="Calibri" pitchFamily="34" charset="-122"/>
                <a:cs typeface="Calibri" pitchFamily="34" charset="-120"/>
              </a:rPr>
              <a:t>B</a:t>
            </a:r>
            <a:r>
              <a:rPr lang="en-US" sz="1150" dirty="0">
                <a:solidFill>
                  <a:srgbClr val="1B2A33"/>
                </a:solidFill>
                <a:latin typeface="Calibri" pitchFamily="34" charset="0"/>
                <a:ea typeface="Calibri" pitchFamily="34" charset="-122"/>
                <a:cs typeface="Calibri" pitchFamily="34" charset="-120"/>
              </a:rPr>
              <a:t>) = r at every instant — bus transient or not. The bus pole only reaches the share through the mismatch term. What is left is the 1 kHz digital loop:</a:t>
            </a:r>
            <a:endParaRPr lang="en-US" sz="1150" dirty="0"/>
          </a:p>
        </p:txBody>
      </p:sp>
      <p:sp>
        <p:nvSpPr>
          <p:cNvPr id="22" name="Text 20"/>
          <p:cNvSpPr/>
          <p:nvPr/>
        </p:nvSpPr>
        <p:spPr>
          <a:xfrm>
            <a:off x="777240" y="5532120"/>
            <a:ext cx="6492240" cy="365760"/>
          </a:xfrm>
          <a:prstGeom prst="rect">
            <a:avLst/>
          </a:prstGeom>
          <a:noFill/>
          <a:ln/>
        </p:spPr>
        <p:txBody>
          <a:bodyPr wrap="square" lIns="0" tIns="0" rIns="0" bIns="0" rtlCol="0" anchor="ctr"/>
          <a:lstStyle/>
          <a:p>
            <a:pPr marL="0" indent="0">
              <a:buNone/>
            </a:pPr>
            <a:r>
              <a:rPr lang="en-US" sz="1700" b="1" dirty="0">
                <a:solidFill>
                  <a:srgbClr val="12303F"/>
                </a:solidFill>
                <a:latin typeface="Cambria" pitchFamily="34" charset="0"/>
                <a:ea typeface="Cambria" pitchFamily="34" charset="-122"/>
                <a:cs typeface="Cambria" pitchFamily="34" charset="-120"/>
              </a:rPr>
              <a:t>G</a:t>
            </a:r>
            <a:r>
              <a:rPr lang="en-US" sz="1700" b="1" baseline="-40000" dirty="0">
                <a:solidFill>
                  <a:srgbClr val="12303F"/>
                </a:solidFill>
                <a:latin typeface="Cambria" pitchFamily="34" charset="0"/>
                <a:ea typeface="Cambria" pitchFamily="34" charset="-122"/>
                <a:cs typeface="Cambria" pitchFamily="34" charset="-120"/>
              </a:rPr>
              <a:t>P</a:t>
            </a:r>
            <a:r>
              <a:rPr lang="en-US" sz="1700" b="1" dirty="0">
                <a:solidFill>
                  <a:srgbClr val="12303F"/>
                </a:solidFill>
                <a:latin typeface="Cambria" pitchFamily="34" charset="0"/>
                <a:ea typeface="Cambria" pitchFamily="34" charset="-122"/>
                <a:cs typeface="Cambria" pitchFamily="34" charset="-120"/>
              </a:rPr>
              <a:t>(s)  =  K · e^(−T</a:t>
            </a:r>
            <a:r>
              <a:rPr lang="en-US" sz="1700" b="1" baseline="-40000" dirty="0">
                <a:solidFill>
                  <a:srgbClr val="12303F"/>
                </a:solidFill>
                <a:latin typeface="Cambria" pitchFamily="34" charset="0"/>
                <a:ea typeface="Cambria" pitchFamily="34" charset="-122"/>
                <a:cs typeface="Cambria" pitchFamily="34" charset="-120"/>
              </a:rPr>
              <a:t>d</a:t>
            </a:r>
            <a:r>
              <a:rPr lang="en-US" sz="1700" b="1" dirty="0">
                <a:solidFill>
                  <a:srgbClr val="12303F"/>
                </a:solidFill>
                <a:latin typeface="Cambria" pitchFamily="34" charset="0"/>
                <a:ea typeface="Cambria" pitchFamily="34" charset="-122"/>
                <a:cs typeface="Cambria" pitchFamily="34" charset="-120"/>
              </a:rPr>
              <a:t>·s) / [(τ</a:t>
            </a:r>
            <a:r>
              <a:rPr lang="en-US" sz="1700" b="1" baseline="-40000" dirty="0">
                <a:solidFill>
                  <a:srgbClr val="12303F"/>
                </a:solidFill>
                <a:latin typeface="Cambria" pitchFamily="34" charset="0"/>
                <a:ea typeface="Cambria" pitchFamily="34" charset="-122"/>
                <a:cs typeface="Cambria" pitchFamily="34" charset="-120"/>
              </a:rPr>
              <a:t>r</a:t>
            </a:r>
            <a:r>
              <a:rPr lang="en-US" sz="1700" b="1" dirty="0">
                <a:solidFill>
                  <a:srgbClr val="12303F"/>
                </a:solidFill>
                <a:latin typeface="Cambria" pitchFamily="34" charset="0"/>
                <a:ea typeface="Cambria" pitchFamily="34" charset="-122"/>
                <a:cs typeface="Cambria" pitchFamily="34" charset="-120"/>
              </a:rPr>
              <a:t>·s + 1)(τ</a:t>
            </a:r>
            <a:r>
              <a:rPr lang="en-US" sz="1700" b="1" baseline="-40000" dirty="0">
                <a:solidFill>
                  <a:srgbClr val="12303F"/>
                </a:solidFill>
                <a:latin typeface="Cambria" pitchFamily="34" charset="0"/>
                <a:ea typeface="Cambria" pitchFamily="34" charset="-122"/>
                <a:cs typeface="Cambria" pitchFamily="34" charset="-120"/>
              </a:rPr>
              <a:t>f</a:t>
            </a:r>
            <a:r>
              <a:rPr lang="en-US" sz="1700" b="1" dirty="0">
                <a:solidFill>
                  <a:srgbClr val="12303F"/>
                </a:solidFill>
                <a:latin typeface="Cambria" pitchFamily="34" charset="0"/>
                <a:ea typeface="Cambria" pitchFamily="34" charset="-122"/>
                <a:cs typeface="Cambria" pitchFamily="34" charset="-120"/>
              </a:rPr>
              <a:t>·s + 1)]</a:t>
            </a:r>
            <a:endParaRPr lang="en-US" sz="1700" dirty="0"/>
          </a:p>
        </p:txBody>
      </p:sp>
      <p:sp>
        <p:nvSpPr>
          <p:cNvPr id="23" name="Text 21"/>
          <p:cNvSpPr/>
          <p:nvPr/>
        </p:nvSpPr>
        <p:spPr>
          <a:xfrm>
            <a:off x="777240" y="5925312"/>
            <a:ext cx="6492240" cy="237744"/>
          </a:xfrm>
          <a:prstGeom prst="rect">
            <a:avLst/>
          </a:prstGeom>
          <a:noFill/>
          <a:ln/>
        </p:spPr>
        <p:txBody>
          <a:bodyPr wrap="square" lIns="0" tIns="0" rIns="0" bIns="0" rtlCol="0" anchor="ctr"/>
          <a:lstStyle/>
          <a:p>
            <a:pPr marL="0" indent="0">
              <a:buNone/>
            </a:pPr>
            <a:r>
              <a:rPr lang="en-US" sz="1100" dirty="0">
                <a:solidFill>
                  <a:srgbClr val="6B7C87"/>
                </a:solidFill>
                <a:latin typeface="Calibri" pitchFamily="34" charset="0"/>
                <a:ea typeface="Calibri" pitchFamily="34" charset="-122"/>
                <a:cs typeface="Calibri" pitchFamily="34" charset="-120"/>
              </a:rPr>
              <a:t>T</a:t>
            </a:r>
            <a:r>
              <a:rPr lang="en-US" sz="1100" baseline="-40000" dirty="0">
                <a:solidFill>
                  <a:srgbClr val="6B7C87"/>
                </a:solidFill>
                <a:latin typeface="Calibri" pitchFamily="34" charset="0"/>
                <a:ea typeface="Calibri" pitchFamily="34" charset="-122"/>
                <a:cs typeface="Calibri" pitchFamily="34" charset="-120"/>
              </a:rPr>
              <a:t>d</a:t>
            </a:r>
            <a:r>
              <a:rPr lang="en-US" sz="1100" dirty="0">
                <a:solidFill>
                  <a:srgbClr val="6B7C87"/>
                </a:solidFill>
                <a:latin typeface="Calibri" pitchFamily="34" charset="0"/>
                <a:ea typeface="Calibri" pitchFamily="34" charset="-122"/>
                <a:cs typeface="Calibri" pitchFamily="34" charset="-120"/>
              </a:rPr>
              <a:t> = 1 ms (ZOH + latch) · τ</a:t>
            </a:r>
            <a:r>
              <a:rPr lang="en-US" sz="1100" baseline="-40000" dirty="0">
                <a:solidFill>
                  <a:srgbClr val="6B7C87"/>
                </a:solidFill>
                <a:latin typeface="Calibri" pitchFamily="34" charset="0"/>
                <a:ea typeface="Calibri" pitchFamily="34" charset="-122"/>
                <a:cs typeface="Calibri" pitchFamily="34" charset="-120"/>
              </a:rPr>
              <a:t>r</a:t>
            </a:r>
            <a:r>
              <a:rPr lang="en-US" sz="1100" dirty="0">
                <a:solidFill>
                  <a:srgbClr val="6B7C87"/>
                </a:solidFill>
                <a:latin typeface="Calibri" pitchFamily="34" charset="0"/>
                <a:ea typeface="Calibri" pitchFamily="34" charset="-122"/>
                <a:cs typeface="Calibri" pitchFamily="34" charset="-120"/>
              </a:rPr>
              <a:t> = 100 µs (converter lag) · τ</a:t>
            </a:r>
            <a:r>
              <a:rPr lang="en-US" sz="1100" baseline="-40000" dirty="0">
                <a:solidFill>
                  <a:srgbClr val="6B7C87"/>
                </a:solidFill>
                <a:latin typeface="Calibri" pitchFamily="34" charset="0"/>
                <a:ea typeface="Calibri" pitchFamily="34" charset="-122"/>
                <a:cs typeface="Calibri" pitchFamily="34" charset="-120"/>
              </a:rPr>
              <a:t>f</a:t>
            </a:r>
            <a:r>
              <a:rPr lang="en-US" sz="1100" dirty="0">
                <a:solidFill>
                  <a:srgbClr val="6B7C87"/>
                </a:solidFill>
                <a:latin typeface="Calibri" pitchFamily="34" charset="0"/>
                <a:ea typeface="Calibri" pitchFamily="34" charset="-122"/>
                <a:cs typeface="Calibri" pitchFamily="34" charset="-120"/>
              </a:rPr>
              <a:t> = 0.8 ms (200 Hz prefilter)</a:t>
            </a:r>
            <a:endParaRPr lang="en-US" sz="11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498080" y="4956048"/>
          <a:ext cx="3977640" cy="472440"/>
        </p:xfrm>
        <a:graphic>
          <a:graphicData uri="http://schemas.openxmlformats.org/drawingml/2006/table">
            <a:tbl>
              <a:tblPr/>
              <a:tblGrid>
                <a:gridCol w="73152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7772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0">
                <a:tc>
                  <a:txBody>
                    <a:bodyPr/>
                    <a:lstStyle/>
                    <a:p>
                      <a:pPr marL="0" indent="0">
                        <a:buNone/>
                      </a:pPr>
                      <a:r>
                        <a:rPr lang="en-US" sz="950" b="1" dirty="0">
                          <a:solidFill>
                            <a:srgbClr val="1B2A33"/>
                          </a:solidFill>
                          <a:latin typeface="Calibri" pitchFamily="34" charset="0"/>
                          <a:ea typeface="Calibri" pitchFamily="34" charset="-122"/>
                          <a:cs typeface="Calibri" pitchFamily="34" charset="-120"/>
                        </a:rPr>
                        <a:t>Corner</a:t>
                      </a:r>
                      <a:endParaRPr lang="en-US" sz="950" dirty="0">
                        <a:latin typeface="Calibri" charset="0"/>
                        <a:ea typeface="Calibri" charset="0"/>
                        <a:cs typeface="Calibri" charset="0"/>
                      </a:endParaRPr>
                    </a:p>
                  </a:txBody>
                  <a:tcPr>
                    <a:lnL w="6350" cap="flat" cmpd="sng" algn="ctr">
                      <a:solidFill>
                        <a:srgbClr val="DCE3E7"/>
                      </a:solidFill>
                      <a:prstDash val="solid"/>
                      <a:round/>
                      <a:headEnd type="none" w="med" len="med"/>
                      <a:tailEnd type="none" w="med" len="med"/>
                    </a:lnL>
                    <a:lnR w="6350" cap="flat" cmpd="sng" algn="ctr">
                      <a:solidFill>
                        <a:srgbClr val="DCE3E7"/>
                      </a:solidFill>
                      <a:prstDash val="solid"/>
                      <a:round/>
                      <a:headEnd type="none" w="med" len="med"/>
                      <a:tailEnd type="none" w="med" len="med"/>
                    </a:lnR>
                    <a:lnT w="6350" cap="flat" cmpd="sng" algn="ctr">
                      <a:solidFill>
                        <a:srgbClr val="DCE3E7"/>
                      </a:solidFill>
                      <a:prstDash val="solid"/>
                      <a:round/>
                      <a:headEnd type="none" w="med" len="med"/>
                      <a:tailEnd type="none" w="med" len="med"/>
                    </a:lnT>
                    <a:lnB w="6350" cap="flat" cmpd="sng" algn="ctr">
                      <a:solidFill>
                        <a:srgbClr val="DCE3E7"/>
                      </a:solidFill>
                      <a:prstDash val="solid"/>
                      <a:round/>
                      <a:headEnd type="none" w="med" len="med"/>
                      <a:tailEnd type="none" w="med" len="med"/>
                    </a:lnB>
                    <a:solidFill>
                      <a:srgbClr val="FFFFFF"/>
                    </a:solidFill>
                  </a:tcPr>
                </a:tc>
                <a:tc>
                  <a:txBody>
                    <a:bodyPr/>
                    <a:lstStyle/>
                    <a:p>
                      <a:pPr marL="0" indent="0">
                        <a:buNone/>
                      </a:pPr>
                      <a:r>
                        <a:rPr lang="en-US" sz="950" b="1" dirty="0">
                          <a:solidFill>
                            <a:srgbClr val="1B2A33"/>
                          </a:solidFill>
                          <a:latin typeface="Calibri" pitchFamily="34" charset="0"/>
                          <a:ea typeface="Calibri" pitchFamily="34" charset="-122"/>
                          <a:cs typeface="Calibri" pitchFamily="34" charset="-120"/>
                        </a:rPr>
                        <a:t>K</a:t>
                      </a:r>
                      <a:endParaRPr lang="en-US" sz="950" dirty="0">
                        <a:latin typeface="Calibri" charset="0"/>
                        <a:ea typeface="Calibri" charset="0"/>
                        <a:cs typeface="Calibri" charset="0"/>
                      </a:endParaRPr>
                    </a:p>
                  </a:txBody>
                  <a:tcPr>
                    <a:lnL w="6350" cap="flat" cmpd="sng" algn="ctr">
                      <a:solidFill>
                        <a:srgbClr val="DCE3E7"/>
                      </a:solidFill>
                      <a:prstDash val="solid"/>
                      <a:round/>
                      <a:headEnd type="none" w="med" len="med"/>
                      <a:tailEnd type="none" w="med" len="med"/>
                    </a:lnL>
                    <a:lnR w="6350" cap="flat" cmpd="sng" algn="ctr">
                      <a:solidFill>
                        <a:srgbClr val="DCE3E7"/>
                      </a:solidFill>
                      <a:prstDash val="solid"/>
                      <a:round/>
                      <a:headEnd type="none" w="med" len="med"/>
                      <a:tailEnd type="none" w="med" len="med"/>
                    </a:lnR>
                    <a:lnT w="6350" cap="flat" cmpd="sng" algn="ctr">
                      <a:solidFill>
                        <a:srgbClr val="DCE3E7"/>
                      </a:solidFill>
                      <a:prstDash val="solid"/>
                      <a:round/>
                      <a:headEnd type="none" w="med" len="med"/>
                      <a:tailEnd type="none" w="med" len="med"/>
                    </a:lnT>
                    <a:lnB w="6350" cap="flat" cmpd="sng" algn="ctr">
                      <a:solidFill>
                        <a:srgbClr val="DCE3E7"/>
                      </a:solidFill>
                      <a:prstDash val="solid"/>
                      <a:round/>
                      <a:headEnd type="none" w="med" len="med"/>
                      <a:tailEnd type="none" w="med" len="med"/>
                    </a:lnB>
                    <a:solidFill>
                      <a:srgbClr val="FFFFFF"/>
                    </a:solidFill>
                  </a:tcPr>
                </a:tc>
                <a:tc>
                  <a:txBody>
                    <a:bodyPr/>
                    <a:lstStyle/>
                    <a:p>
                      <a:pPr marL="0" indent="0">
                        <a:buNone/>
                      </a:pPr>
                      <a:r>
                        <a:rPr lang="en-US" sz="950" b="1" dirty="0">
                          <a:solidFill>
                            <a:srgbClr val="1B2A33"/>
                          </a:solidFill>
                          <a:latin typeface="Calibri" pitchFamily="34" charset="0"/>
                          <a:ea typeface="Calibri" pitchFamily="34" charset="-122"/>
                          <a:cs typeface="Calibri" pitchFamily="34" charset="-120"/>
                        </a:rPr>
                        <a:t>T</a:t>
                      </a:r>
                      <a:r>
                        <a:rPr lang="en-US" sz="950" b="1" baseline="-40000" dirty="0">
                          <a:solidFill>
                            <a:srgbClr val="1B2A33"/>
                          </a:solidFill>
                          <a:latin typeface="Calibri" pitchFamily="34" charset="0"/>
                          <a:ea typeface="Calibri" pitchFamily="34" charset="-122"/>
                          <a:cs typeface="Calibri" pitchFamily="34" charset="-120"/>
                        </a:rPr>
                        <a:t>d</a:t>
                      </a:r>
                      <a:endParaRPr lang="en-US" sz="950" dirty="0">
                        <a:latin typeface="Calibri" charset="0"/>
                        <a:ea typeface="Calibri" charset="0"/>
                        <a:cs typeface="Calibri" charset="0"/>
                      </a:endParaRPr>
                    </a:p>
                  </a:txBody>
                  <a:tcPr>
                    <a:lnL w="6350" cap="flat" cmpd="sng" algn="ctr">
                      <a:solidFill>
                        <a:srgbClr val="DCE3E7"/>
                      </a:solidFill>
                      <a:prstDash val="solid"/>
                      <a:round/>
                      <a:headEnd type="none" w="med" len="med"/>
                      <a:tailEnd type="none" w="med" len="med"/>
                    </a:lnL>
                    <a:lnR w="6350" cap="flat" cmpd="sng" algn="ctr">
                      <a:solidFill>
                        <a:srgbClr val="DCE3E7"/>
                      </a:solidFill>
                      <a:prstDash val="solid"/>
                      <a:round/>
                      <a:headEnd type="none" w="med" len="med"/>
                      <a:tailEnd type="none" w="med" len="med"/>
                    </a:lnR>
                    <a:lnT w="6350" cap="flat" cmpd="sng" algn="ctr">
                      <a:solidFill>
                        <a:srgbClr val="DCE3E7"/>
                      </a:solidFill>
                      <a:prstDash val="solid"/>
                      <a:round/>
                      <a:headEnd type="none" w="med" len="med"/>
                      <a:tailEnd type="none" w="med" len="med"/>
                    </a:lnT>
                    <a:lnB w="6350" cap="flat" cmpd="sng" algn="ctr">
                      <a:solidFill>
                        <a:srgbClr val="DCE3E7"/>
                      </a:solidFill>
                      <a:prstDash val="solid"/>
                      <a:round/>
                      <a:headEnd type="none" w="med" len="med"/>
                      <a:tailEnd type="none" w="med" len="med"/>
                    </a:lnB>
                    <a:solidFill>
                      <a:srgbClr val="FFFFFF"/>
                    </a:solidFill>
                  </a:tcPr>
                </a:tc>
                <a:tc>
                  <a:txBody>
                    <a:bodyPr/>
                    <a:lstStyle/>
                    <a:p>
                      <a:pPr marL="0" indent="0">
                        <a:buNone/>
                      </a:pPr>
                      <a:r>
                        <a:rPr lang="en-US" sz="950" b="1" dirty="0">
                          <a:solidFill>
                            <a:srgbClr val="1B2A33"/>
                          </a:solidFill>
                          <a:latin typeface="Calibri" pitchFamily="34" charset="0"/>
                          <a:ea typeface="Calibri" pitchFamily="34" charset="-122"/>
                          <a:cs typeface="Calibri" pitchFamily="34" charset="-120"/>
                        </a:rPr>
                        <a:t>τ</a:t>
                      </a:r>
                      <a:r>
                        <a:rPr lang="en-US" sz="950" b="1" baseline="-40000" dirty="0">
                          <a:solidFill>
                            <a:srgbClr val="1B2A33"/>
                          </a:solidFill>
                          <a:latin typeface="Calibri" pitchFamily="34" charset="0"/>
                          <a:ea typeface="Calibri" pitchFamily="34" charset="-122"/>
                          <a:cs typeface="Calibri" pitchFamily="34" charset="-120"/>
                        </a:rPr>
                        <a:t>r</a:t>
                      </a:r>
                      <a:endParaRPr lang="en-US" sz="950" dirty="0">
                        <a:latin typeface="Calibri" charset="0"/>
                        <a:ea typeface="Calibri" charset="0"/>
                        <a:cs typeface="Calibri" charset="0"/>
                      </a:endParaRPr>
                    </a:p>
                  </a:txBody>
                  <a:tcPr>
                    <a:lnL w="6350" cap="flat" cmpd="sng" algn="ctr">
                      <a:solidFill>
                        <a:srgbClr val="DCE3E7"/>
                      </a:solidFill>
                      <a:prstDash val="solid"/>
                      <a:round/>
                      <a:headEnd type="none" w="med" len="med"/>
                      <a:tailEnd type="none" w="med" len="med"/>
                    </a:lnL>
                    <a:lnR w="6350" cap="flat" cmpd="sng" algn="ctr">
                      <a:solidFill>
                        <a:srgbClr val="DCE3E7"/>
                      </a:solidFill>
                      <a:prstDash val="solid"/>
                      <a:round/>
                      <a:headEnd type="none" w="med" len="med"/>
                      <a:tailEnd type="none" w="med" len="med"/>
                    </a:lnR>
                    <a:lnT w="6350" cap="flat" cmpd="sng" algn="ctr">
                      <a:solidFill>
                        <a:srgbClr val="DCE3E7"/>
                      </a:solidFill>
                      <a:prstDash val="solid"/>
                      <a:round/>
                      <a:headEnd type="none" w="med" len="med"/>
                      <a:tailEnd type="none" w="med" len="med"/>
                    </a:lnT>
                    <a:lnB w="6350" cap="flat" cmpd="sng" algn="ctr">
                      <a:solidFill>
                        <a:srgbClr val="DCE3E7"/>
                      </a:solidFill>
                      <a:prstDash val="solid"/>
                      <a:round/>
                      <a:headEnd type="none" w="med" len="med"/>
                      <a:tailEnd type="none" w="med" len="med"/>
                    </a:lnB>
                    <a:solidFill>
                      <a:srgbClr val="FFFFFF"/>
                    </a:solidFill>
                  </a:tcPr>
                </a:tc>
                <a:tc>
                  <a:txBody>
                    <a:bodyPr/>
                    <a:lstStyle/>
                    <a:p>
                      <a:pPr marL="0" indent="0">
                        <a:buNone/>
                      </a:pPr>
                      <a:r>
                        <a:rPr lang="en-US" sz="950" b="1" dirty="0">
                          <a:solidFill>
                            <a:srgbClr val="1B2A33"/>
                          </a:solidFill>
                          <a:latin typeface="Calibri" pitchFamily="34" charset="0"/>
                          <a:ea typeface="Calibri" pitchFamily="34" charset="-122"/>
                          <a:cs typeface="Calibri" pitchFamily="34" charset="-120"/>
                        </a:rPr>
                        <a:t>τ</a:t>
                      </a:r>
                      <a:r>
                        <a:rPr lang="en-US" sz="950" b="1" baseline="-40000" dirty="0">
                          <a:solidFill>
                            <a:srgbClr val="1B2A33"/>
                          </a:solidFill>
                          <a:latin typeface="Calibri" pitchFamily="34" charset="0"/>
                          <a:ea typeface="Calibri" pitchFamily="34" charset="-122"/>
                          <a:cs typeface="Calibri" pitchFamily="34" charset="-120"/>
                        </a:rPr>
                        <a:t>f</a:t>
                      </a:r>
                      <a:endParaRPr lang="en-US" sz="950" dirty="0">
                        <a:latin typeface="Calibri" charset="0"/>
                        <a:ea typeface="Calibri" charset="0"/>
                        <a:cs typeface="Calibri" charset="0"/>
                      </a:endParaRPr>
                    </a:p>
                  </a:txBody>
                  <a:tcPr>
                    <a:lnL w="6350" cap="flat" cmpd="sng" algn="ctr">
                      <a:solidFill>
                        <a:srgbClr val="DCE3E7"/>
                      </a:solidFill>
                      <a:prstDash val="solid"/>
                      <a:round/>
                      <a:headEnd type="none" w="med" len="med"/>
                      <a:tailEnd type="none" w="med" len="med"/>
                    </a:lnL>
                    <a:lnR w="6350" cap="flat" cmpd="sng" algn="ctr">
                      <a:solidFill>
                        <a:srgbClr val="DCE3E7"/>
                      </a:solidFill>
                      <a:prstDash val="solid"/>
                      <a:round/>
                      <a:headEnd type="none" w="med" len="med"/>
                      <a:tailEnd type="none" w="med" len="med"/>
                    </a:lnR>
                    <a:lnT w="6350" cap="flat" cmpd="sng" algn="ctr">
                      <a:solidFill>
                        <a:srgbClr val="DCE3E7"/>
                      </a:solidFill>
                      <a:prstDash val="solid"/>
                      <a:round/>
                      <a:headEnd type="none" w="med" len="med"/>
                      <a:tailEnd type="none" w="med" len="med"/>
                    </a:lnT>
                    <a:lnB w="6350" cap="flat" cmpd="sng" algn="ctr">
                      <a:solidFill>
                        <a:srgbClr val="DCE3E7"/>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0">
                <a:tc>
                  <a:txBody>
                    <a:bodyPr/>
                    <a:lstStyle/>
                    <a:p>
                      <a:pPr marL="0" indent="0">
                        <a:buNone/>
                      </a:pPr>
                      <a:r>
                        <a:rPr lang="en-US" sz="950" dirty="0">
                          <a:solidFill>
                            <a:srgbClr val="1B2A33"/>
                          </a:solidFill>
                          <a:latin typeface="Calibri" pitchFamily="34" charset="0"/>
                          <a:ea typeface="Calibri" pitchFamily="34" charset="-122"/>
                          <a:cs typeface="Calibri" pitchFamily="34" charset="-120"/>
                        </a:rPr>
                        <a:t>Range</a:t>
                      </a:r>
                      <a:endParaRPr lang="en-US" sz="950" dirty="0">
                        <a:latin typeface="Calibri" charset="0"/>
                        <a:ea typeface="Calibri" charset="0"/>
                        <a:cs typeface="Calibri" charset="0"/>
                      </a:endParaRPr>
                    </a:p>
                  </a:txBody>
                  <a:tcPr>
                    <a:lnL w="6350" cap="flat" cmpd="sng" algn="ctr">
                      <a:solidFill>
                        <a:srgbClr val="DCE3E7"/>
                      </a:solidFill>
                      <a:prstDash val="solid"/>
                      <a:round/>
                      <a:headEnd type="none" w="med" len="med"/>
                      <a:tailEnd type="none" w="med" len="med"/>
                    </a:lnL>
                    <a:lnR w="6350" cap="flat" cmpd="sng" algn="ctr">
                      <a:solidFill>
                        <a:srgbClr val="DCE3E7"/>
                      </a:solidFill>
                      <a:prstDash val="solid"/>
                      <a:round/>
                      <a:headEnd type="none" w="med" len="med"/>
                      <a:tailEnd type="none" w="med" len="med"/>
                    </a:lnR>
                    <a:lnT w="6350" cap="flat" cmpd="sng" algn="ctr">
                      <a:solidFill>
                        <a:srgbClr val="DCE3E7"/>
                      </a:solidFill>
                      <a:prstDash val="solid"/>
                      <a:round/>
                      <a:headEnd type="none" w="med" len="med"/>
                      <a:tailEnd type="none" w="med" len="med"/>
                    </a:lnT>
                    <a:lnB w="6350" cap="flat" cmpd="sng" algn="ctr">
                      <a:solidFill>
                        <a:srgbClr val="DCE3E7"/>
                      </a:solidFill>
                      <a:prstDash val="solid"/>
                      <a:round/>
                      <a:headEnd type="none" w="med" len="med"/>
                      <a:tailEnd type="none" w="med" len="med"/>
                    </a:lnB>
                    <a:solidFill>
                      <a:srgbClr val="FFFFFF"/>
                    </a:solidFill>
                  </a:tcPr>
                </a:tc>
                <a:tc>
                  <a:txBody>
                    <a:bodyPr/>
                    <a:lstStyle/>
                    <a:p>
                      <a:pPr marL="0" indent="0">
                        <a:buNone/>
                      </a:pPr>
                      <a:r>
                        <a:rPr lang="en-US" sz="950" dirty="0">
                          <a:solidFill>
                            <a:srgbClr val="1B2A33"/>
                          </a:solidFill>
                          <a:latin typeface="Calibri" pitchFamily="34" charset="0"/>
                          <a:ea typeface="Calibri" pitchFamily="34" charset="-122"/>
                          <a:cs typeface="Calibri" pitchFamily="34" charset="-120"/>
                        </a:rPr>
                        <a:t>0.55 – 1.45</a:t>
                      </a:r>
                      <a:endParaRPr lang="en-US" sz="950" dirty="0">
                        <a:latin typeface="Calibri" charset="0"/>
                        <a:ea typeface="Calibri" charset="0"/>
                        <a:cs typeface="Calibri" charset="0"/>
                      </a:endParaRPr>
                    </a:p>
                  </a:txBody>
                  <a:tcPr>
                    <a:lnL w="6350" cap="flat" cmpd="sng" algn="ctr">
                      <a:solidFill>
                        <a:srgbClr val="DCE3E7"/>
                      </a:solidFill>
                      <a:prstDash val="solid"/>
                      <a:round/>
                      <a:headEnd type="none" w="med" len="med"/>
                      <a:tailEnd type="none" w="med" len="med"/>
                    </a:lnL>
                    <a:lnR w="6350" cap="flat" cmpd="sng" algn="ctr">
                      <a:solidFill>
                        <a:srgbClr val="DCE3E7"/>
                      </a:solidFill>
                      <a:prstDash val="solid"/>
                      <a:round/>
                      <a:headEnd type="none" w="med" len="med"/>
                      <a:tailEnd type="none" w="med" len="med"/>
                    </a:lnR>
                    <a:lnT w="6350" cap="flat" cmpd="sng" algn="ctr">
                      <a:solidFill>
                        <a:srgbClr val="DCE3E7"/>
                      </a:solidFill>
                      <a:prstDash val="solid"/>
                      <a:round/>
                      <a:headEnd type="none" w="med" len="med"/>
                      <a:tailEnd type="none" w="med" len="med"/>
                    </a:lnT>
                    <a:lnB w="6350" cap="flat" cmpd="sng" algn="ctr">
                      <a:solidFill>
                        <a:srgbClr val="DCE3E7"/>
                      </a:solidFill>
                      <a:prstDash val="solid"/>
                      <a:round/>
                      <a:headEnd type="none" w="med" len="med"/>
                      <a:tailEnd type="none" w="med" len="med"/>
                    </a:lnB>
                    <a:solidFill>
                      <a:srgbClr val="FFFFFF"/>
                    </a:solidFill>
                  </a:tcPr>
                </a:tc>
                <a:tc>
                  <a:txBody>
                    <a:bodyPr/>
                    <a:lstStyle/>
                    <a:p>
                      <a:pPr marL="0" indent="0">
                        <a:buNone/>
                      </a:pPr>
                      <a:r>
                        <a:rPr lang="en-US" sz="950" dirty="0">
                          <a:solidFill>
                            <a:srgbClr val="1B2A33"/>
                          </a:solidFill>
                          <a:latin typeface="Calibri" pitchFamily="34" charset="0"/>
                          <a:ea typeface="Calibri" pitchFamily="34" charset="-122"/>
                          <a:cs typeface="Calibri" pitchFamily="34" charset="-120"/>
                        </a:rPr>
                        <a:t>0.5 – 2 ms</a:t>
                      </a:r>
                      <a:endParaRPr lang="en-US" sz="950" dirty="0">
                        <a:latin typeface="Calibri" charset="0"/>
                        <a:ea typeface="Calibri" charset="0"/>
                        <a:cs typeface="Calibri" charset="0"/>
                      </a:endParaRPr>
                    </a:p>
                  </a:txBody>
                  <a:tcPr>
                    <a:lnL w="6350" cap="flat" cmpd="sng" algn="ctr">
                      <a:solidFill>
                        <a:srgbClr val="DCE3E7"/>
                      </a:solidFill>
                      <a:prstDash val="solid"/>
                      <a:round/>
                      <a:headEnd type="none" w="med" len="med"/>
                      <a:tailEnd type="none" w="med" len="med"/>
                    </a:lnL>
                    <a:lnR w="6350" cap="flat" cmpd="sng" algn="ctr">
                      <a:solidFill>
                        <a:srgbClr val="DCE3E7"/>
                      </a:solidFill>
                      <a:prstDash val="solid"/>
                      <a:round/>
                      <a:headEnd type="none" w="med" len="med"/>
                      <a:tailEnd type="none" w="med" len="med"/>
                    </a:lnR>
                    <a:lnT w="6350" cap="flat" cmpd="sng" algn="ctr">
                      <a:solidFill>
                        <a:srgbClr val="DCE3E7"/>
                      </a:solidFill>
                      <a:prstDash val="solid"/>
                      <a:round/>
                      <a:headEnd type="none" w="med" len="med"/>
                      <a:tailEnd type="none" w="med" len="med"/>
                    </a:lnT>
                    <a:lnB w="6350" cap="flat" cmpd="sng" algn="ctr">
                      <a:solidFill>
                        <a:srgbClr val="DCE3E7"/>
                      </a:solidFill>
                      <a:prstDash val="solid"/>
                      <a:round/>
                      <a:headEnd type="none" w="med" len="med"/>
                      <a:tailEnd type="none" w="med" len="med"/>
                    </a:lnB>
                    <a:solidFill>
                      <a:srgbClr val="FFFFFF"/>
                    </a:solidFill>
                  </a:tcPr>
                </a:tc>
                <a:tc>
                  <a:txBody>
                    <a:bodyPr/>
                    <a:lstStyle/>
                    <a:p>
                      <a:pPr marL="0" indent="0">
                        <a:buNone/>
                      </a:pPr>
                      <a:r>
                        <a:rPr lang="en-US" sz="950" dirty="0">
                          <a:solidFill>
                            <a:srgbClr val="1B2A33"/>
                          </a:solidFill>
                          <a:latin typeface="Calibri" pitchFamily="34" charset="0"/>
                          <a:ea typeface="Calibri" pitchFamily="34" charset="-122"/>
                          <a:cs typeface="Calibri" pitchFamily="34" charset="-120"/>
                        </a:rPr>
                        <a:t>20 – 300 µs</a:t>
                      </a:r>
                      <a:endParaRPr lang="en-US" sz="950" dirty="0">
                        <a:latin typeface="Calibri" charset="0"/>
                        <a:ea typeface="Calibri" charset="0"/>
                        <a:cs typeface="Calibri" charset="0"/>
                      </a:endParaRPr>
                    </a:p>
                  </a:txBody>
                  <a:tcPr>
                    <a:lnL w="6350" cap="flat" cmpd="sng" algn="ctr">
                      <a:solidFill>
                        <a:srgbClr val="DCE3E7"/>
                      </a:solidFill>
                      <a:prstDash val="solid"/>
                      <a:round/>
                      <a:headEnd type="none" w="med" len="med"/>
                      <a:tailEnd type="none" w="med" len="med"/>
                    </a:lnL>
                    <a:lnR w="6350" cap="flat" cmpd="sng" algn="ctr">
                      <a:solidFill>
                        <a:srgbClr val="DCE3E7"/>
                      </a:solidFill>
                      <a:prstDash val="solid"/>
                      <a:round/>
                      <a:headEnd type="none" w="med" len="med"/>
                      <a:tailEnd type="none" w="med" len="med"/>
                    </a:lnR>
                    <a:lnT w="6350" cap="flat" cmpd="sng" algn="ctr">
                      <a:solidFill>
                        <a:srgbClr val="DCE3E7"/>
                      </a:solidFill>
                      <a:prstDash val="solid"/>
                      <a:round/>
                      <a:headEnd type="none" w="med" len="med"/>
                      <a:tailEnd type="none" w="med" len="med"/>
                    </a:lnT>
                    <a:lnB w="6350" cap="flat" cmpd="sng" algn="ctr">
                      <a:solidFill>
                        <a:srgbClr val="DCE3E7"/>
                      </a:solidFill>
                      <a:prstDash val="solid"/>
                      <a:round/>
                      <a:headEnd type="none" w="med" len="med"/>
                      <a:tailEnd type="none" w="med" len="med"/>
                    </a:lnB>
                    <a:solidFill>
                      <a:srgbClr val="FFFFFF"/>
                    </a:solidFill>
                  </a:tcPr>
                </a:tc>
                <a:tc>
                  <a:txBody>
                    <a:bodyPr/>
                    <a:lstStyle/>
                    <a:p>
                      <a:pPr marL="0" indent="0">
                        <a:buNone/>
                      </a:pPr>
                      <a:r>
                        <a:rPr lang="en-US" sz="950" dirty="0">
                          <a:solidFill>
                            <a:srgbClr val="1B2A33"/>
                          </a:solidFill>
                          <a:latin typeface="Calibri" pitchFamily="34" charset="0"/>
                          <a:ea typeface="Calibri" pitchFamily="34" charset="-122"/>
                          <a:cs typeface="Calibri" pitchFamily="34" charset="-120"/>
                        </a:rPr>
                        <a:t>0 / 0.8 ms</a:t>
                      </a:r>
                      <a:endParaRPr lang="en-US" sz="950" dirty="0">
                        <a:latin typeface="Calibri" charset="0"/>
                        <a:ea typeface="Calibri" charset="0"/>
                        <a:cs typeface="Calibri" charset="0"/>
                      </a:endParaRPr>
                    </a:p>
                  </a:txBody>
                  <a:tcPr>
                    <a:lnL w="6350" cap="flat" cmpd="sng" algn="ctr">
                      <a:solidFill>
                        <a:srgbClr val="DCE3E7"/>
                      </a:solidFill>
                      <a:prstDash val="solid"/>
                      <a:round/>
                      <a:headEnd type="none" w="med" len="med"/>
                      <a:tailEnd type="none" w="med" len="med"/>
                    </a:lnL>
                    <a:lnR w="6350" cap="flat" cmpd="sng" algn="ctr">
                      <a:solidFill>
                        <a:srgbClr val="DCE3E7"/>
                      </a:solidFill>
                      <a:prstDash val="solid"/>
                      <a:round/>
                      <a:headEnd type="none" w="med" len="med"/>
                      <a:tailEnd type="none" w="med" len="med"/>
                    </a:lnR>
                    <a:lnT w="6350" cap="flat" cmpd="sng" algn="ctr">
                      <a:solidFill>
                        <a:srgbClr val="DCE3E7"/>
                      </a:solidFill>
                      <a:prstDash val="solid"/>
                      <a:round/>
                      <a:headEnd type="none" w="med" len="med"/>
                      <a:tailEnd type="none" w="med" len="med"/>
                    </a:lnT>
                    <a:lnB w="6350" cap="flat" cmpd="sng" algn="ctr">
                      <a:solidFill>
                        <a:srgbClr val="DCE3E7"/>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25" name="Text 22"/>
          <p:cNvSpPr/>
          <p:nvPr/>
        </p:nvSpPr>
        <p:spPr>
          <a:xfrm>
            <a:off x="7498080" y="5532120"/>
            <a:ext cx="3977640" cy="365760"/>
          </a:xfrm>
          <a:prstGeom prst="rect">
            <a:avLst/>
          </a:prstGeom>
          <a:noFill/>
          <a:ln/>
        </p:spPr>
        <p:txBody>
          <a:bodyPr wrap="square" lIns="0" tIns="0" rIns="0" bIns="0" rtlCol="0" anchor="ctr"/>
          <a:lstStyle/>
          <a:p>
            <a:pPr marL="0" indent="0">
              <a:buNone/>
            </a:pPr>
            <a:r>
              <a:rPr lang="en-US" sz="1100" dirty="0">
                <a:solidFill>
                  <a:srgbClr val="6B7C87"/>
                </a:solidFill>
                <a:latin typeface="Calibri" pitchFamily="34" charset="0"/>
                <a:ea typeface="Calibri" pitchFamily="34" charset="-122"/>
                <a:cs typeface="Calibri" pitchFamily="34" charset="-120"/>
              </a:rPr>
              <a:t>Delay-dominated, near-unity gain. 60 corners swept in synthesis.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303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marL="0" indent="0">
              <a:buNone/>
            </a:pPr>
            <a:r>
              <a:rPr lang="en-US" sz="1200" b="1" kern="0" spc="160" dirty="0">
                <a:solidFill>
                  <a:srgbClr val="E08A1E"/>
                </a:solidFill>
                <a:latin typeface="Calibri" pitchFamily="34" charset="0"/>
                <a:ea typeface="Calibri" pitchFamily="34" charset="-122"/>
                <a:cs typeface="Calibri" pitchFamily="34" charset="-120"/>
              </a:rPr>
              <a:t>RESULT — H∞ / YOULA-H</a:t>
            </a:r>
            <a:endParaRPr lang="en-US" sz="1200" dirty="0"/>
          </a:p>
        </p:txBody>
      </p:sp>
      <p:sp>
        <p:nvSpPr>
          <p:cNvPr id="3" name="Text 1"/>
          <p:cNvSpPr/>
          <p:nvPr/>
        </p:nvSpPr>
        <p:spPr>
          <a:xfrm>
            <a:off x="502920" y="566928"/>
            <a:ext cx="11155680" cy="56692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Youla-H controller: exact DC, delay-tolerant</a:t>
            </a:r>
            <a:endParaRPr lang="en-US" sz="3200" dirty="0"/>
          </a:p>
        </p:txBody>
      </p:sp>
      <p:sp>
        <p:nvSpPr>
          <p:cNvPr id="4" name="Shape 2"/>
          <p:cNvSpPr/>
          <p:nvPr/>
        </p:nvSpPr>
        <p:spPr>
          <a:xfrm>
            <a:off x="502920" y="1261872"/>
            <a:ext cx="2670048" cy="914400"/>
          </a:xfrm>
          <a:prstGeom prst="roundRect">
            <a:avLst>
              <a:gd name="adj" fmla="val 6000"/>
            </a:avLst>
          </a:prstGeom>
          <a:solidFill>
            <a:srgbClr val="1B3F51"/>
          </a:solidFill>
          <a:ln w="9525">
            <a:solidFill>
              <a:srgbClr val="2E5A6E"/>
            </a:solidFill>
            <a:prstDash val="solid"/>
          </a:ln>
        </p:spPr>
        <p:txBody>
          <a:bodyPr/>
          <a:lstStyle/>
          <a:p>
            <a:endParaRPr lang="en-US"/>
          </a:p>
        </p:txBody>
      </p:sp>
      <p:sp>
        <p:nvSpPr>
          <p:cNvPr id="5" name="Text 3"/>
          <p:cNvSpPr/>
          <p:nvPr/>
        </p:nvSpPr>
        <p:spPr>
          <a:xfrm>
            <a:off x="502920" y="1325880"/>
            <a:ext cx="2670048" cy="384048"/>
          </a:xfrm>
          <a:prstGeom prst="rect">
            <a:avLst/>
          </a:prstGeom>
          <a:noFill/>
          <a:ln/>
        </p:spPr>
        <p:txBody>
          <a:bodyPr wrap="square" lIns="0" tIns="0" rIns="0" bIns="0" rtlCol="0" anchor="ctr"/>
          <a:lstStyle/>
          <a:p>
            <a:pPr marL="0" indent="0" algn="ctr">
              <a:buNone/>
            </a:pPr>
            <a:r>
              <a:rPr lang="en-US" sz="2300" b="1" dirty="0">
                <a:solidFill>
                  <a:srgbClr val="E08A1E"/>
                </a:solidFill>
                <a:latin typeface="Cambria" pitchFamily="34" charset="0"/>
                <a:ea typeface="Cambria" pitchFamily="34" charset="-122"/>
                <a:cs typeface="Cambria" pitchFamily="34" charset="-120"/>
              </a:rPr>
              <a:t>M</a:t>
            </a:r>
            <a:r>
              <a:rPr lang="en-US" sz="2300" b="1" baseline="-40000" dirty="0">
                <a:solidFill>
                  <a:srgbClr val="E08A1E"/>
                </a:solidFill>
                <a:latin typeface="Cambria" pitchFamily="34" charset="0"/>
                <a:ea typeface="Cambria" pitchFamily="34" charset="-122"/>
                <a:cs typeface="Cambria" pitchFamily="34" charset="-120"/>
              </a:rPr>
              <a:t>2</a:t>
            </a:r>
            <a:r>
              <a:rPr lang="en-US" sz="2300" b="1" dirty="0">
                <a:solidFill>
                  <a:srgbClr val="E08A1E"/>
                </a:solidFill>
                <a:latin typeface="Cambria" pitchFamily="34" charset="0"/>
                <a:ea typeface="Cambria" pitchFamily="34" charset="-122"/>
                <a:cs typeface="Cambria" pitchFamily="34" charset="-120"/>
              </a:rPr>
              <a:t> = 0.80</a:t>
            </a:r>
            <a:endParaRPr lang="en-US" sz="2300" dirty="0"/>
          </a:p>
        </p:txBody>
      </p:sp>
      <p:sp>
        <p:nvSpPr>
          <p:cNvPr id="6" name="Text 4"/>
          <p:cNvSpPr/>
          <p:nvPr/>
        </p:nvSpPr>
        <p:spPr>
          <a:xfrm>
            <a:off x="502920" y="1719072"/>
            <a:ext cx="2670048" cy="384048"/>
          </a:xfrm>
          <a:prstGeom prst="rect">
            <a:avLst/>
          </a:prstGeom>
          <a:noFill/>
          <a:ln/>
        </p:spPr>
        <p:txBody>
          <a:bodyPr wrap="square" lIns="0" tIns="0" rIns="0" bIns="0" rtlCol="0" anchor="ctr"/>
          <a:lstStyle/>
          <a:p>
            <a:pPr marL="0" indent="0" algn="ctr">
              <a:buNone/>
            </a:pPr>
            <a:r>
              <a:rPr lang="en-US" sz="1000" dirty="0">
                <a:solidFill>
                  <a:srgbClr val="AFC4CF"/>
                </a:solidFill>
                <a:latin typeface="Calibri" pitchFamily="34" charset="0"/>
                <a:ea typeface="Calibri" pitchFamily="34" charset="-122"/>
                <a:cs typeface="Calibri" pitchFamily="34" charset="-120"/>
              </a:rPr>
              <a:t>nominal plant · peak S 1.25 · PM 73.9°</a:t>
            </a:r>
            <a:endParaRPr lang="en-US" sz="1000" dirty="0"/>
          </a:p>
        </p:txBody>
      </p:sp>
      <p:sp>
        <p:nvSpPr>
          <p:cNvPr id="7" name="Shape 5"/>
          <p:cNvSpPr/>
          <p:nvPr/>
        </p:nvSpPr>
        <p:spPr>
          <a:xfrm>
            <a:off x="3355848" y="1261872"/>
            <a:ext cx="2670048" cy="914400"/>
          </a:xfrm>
          <a:prstGeom prst="roundRect">
            <a:avLst>
              <a:gd name="adj" fmla="val 6000"/>
            </a:avLst>
          </a:prstGeom>
          <a:solidFill>
            <a:srgbClr val="1B3F51"/>
          </a:solidFill>
          <a:ln w="9525">
            <a:solidFill>
              <a:srgbClr val="2E5A6E"/>
            </a:solidFill>
            <a:prstDash val="solid"/>
          </a:ln>
        </p:spPr>
        <p:txBody>
          <a:bodyPr/>
          <a:lstStyle/>
          <a:p>
            <a:endParaRPr lang="en-US"/>
          </a:p>
        </p:txBody>
      </p:sp>
      <p:sp>
        <p:nvSpPr>
          <p:cNvPr id="8" name="Text 6"/>
          <p:cNvSpPr/>
          <p:nvPr/>
        </p:nvSpPr>
        <p:spPr>
          <a:xfrm>
            <a:off x="3355848" y="1325880"/>
            <a:ext cx="2670048" cy="384048"/>
          </a:xfrm>
          <a:prstGeom prst="rect">
            <a:avLst/>
          </a:prstGeom>
          <a:noFill/>
          <a:ln/>
        </p:spPr>
        <p:txBody>
          <a:bodyPr wrap="square" lIns="0" tIns="0" rIns="0" bIns="0" rtlCol="0" anchor="ctr"/>
          <a:lstStyle/>
          <a:p>
            <a:pPr marL="0" indent="0" algn="ctr">
              <a:buNone/>
            </a:pPr>
            <a:r>
              <a:rPr lang="en-US" sz="2300" b="1" dirty="0">
                <a:solidFill>
                  <a:srgbClr val="E08A1E"/>
                </a:solidFill>
                <a:latin typeface="Cambria" pitchFamily="34" charset="0"/>
                <a:ea typeface="Cambria" pitchFamily="34" charset="-122"/>
                <a:cs typeface="Cambria" pitchFamily="34" charset="-120"/>
              </a:rPr>
              <a:t>0.59 – 0.95</a:t>
            </a:r>
            <a:endParaRPr lang="en-US" sz="2300" dirty="0"/>
          </a:p>
        </p:txBody>
      </p:sp>
      <p:sp>
        <p:nvSpPr>
          <p:cNvPr id="9" name="Text 7"/>
          <p:cNvSpPr/>
          <p:nvPr/>
        </p:nvSpPr>
        <p:spPr>
          <a:xfrm>
            <a:off x="3355848" y="1719072"/>
            <a:ext cx="2670048" cy="384048"/>
          </a:xfrm>
          <a:prstGeom prst="rect">
            <a:avLst/>
          </a:prstGeom>
          <a:noFill/>
          <a:ln/>
        </p:spPr>
        <p:txBody>
          <a:bodyPr wrap="square" lIns="0" tIns="0" rIns="0" bIns="0" rtlCol="0" anchor="ctr"/>
          <a:lstStyle/>
          <a:p>
            <a:pPr marL="0" indent="0" algn="ctr">
              <a:buNone/>
            </a:pPr>
            <a:r>
              <a:rPr lang="en-US" sz="1000" dirty="0">
                <a:solidFill>
                  <a:srgbClr val="AFC4CF"/>
                </a:solidFill>
                <a:latin typeface="Calibri" pitchFamily="34" charset="0"/>
                <a:ea typeface="Calibri" pitchFamily="34" charset="-122"/>
                <a:cs typeface="Calibri" pitchFamily="34" charset="-120"/>
              </a:rPr>
              <a:t>M</a:t>
            </a:r>
            <a:r>
              <a:rPr lang="en-US" sz="1000" baseline="-40000" dirty="0">
                <a:solidFill>
                  <a:srgbClr val="AFC4CF"/>
                </a:solidFill>
                <a:latin typeface="Calibri" pitchFamily="34" charset="0"/>
                <a:ea typeface="Calibri" pitchFamily="34" charset="-122"/>
                <a:cs typeface="Calibri" pitchFamily="34" charset="-120"/>
              </a:rPr>
              <a:t>2</a:t>
            </a:r>
            <a:r>
              <a:rPr lang="en-US" sz="1000" dirty="0">
                <a:solidFill>
                  <a:srgbClr val="AFC4CF"/>
                </a:solidFill>
                <a:latin typeface="Calibri" pitchFamily="34" charset="0"/>
                <a:ea typeface="Calibri" pitchFamily="34" charset="-122"/>
                <a:cs typeface="Calibri" pitchFamily="34" charset="-120"/>
              </a:rPr>
              <a:t> over 60 corners, median 0.83 · all stable</a:t>
            </a:r>
            <a:endParaRPr lang="en-US" sz="1000" dirty="0"/>
          </a:p>
        </p:txBody>
      </p:sp>
      <p:sp>
        <p:nvSpPr>
          <p:cNvPr id="10" name="Shape 8"/>
          <p:cNvSpPr/>
          <p:nvPr/>
        </p:nvSpPr>
        <p:spPr>
          <a:xfrm>
            <a:off x="6208776" y="1261872"/>
            <a:ext cx="2670048" cy="914400"/>
          </a:xfrm>
          <a:prstGeom prst="roundRect">
            <a:avLst>
              <a:gd name="adj" fmla="val 6000"/>
            </a:avLst>
          </a:prstGeom>
          <a:solidFill>
            <a:srgbClr val="1B3F51"/>
          </a:solidFill>
          <a:ln w="9525">
            <a:solidFill>
              <a:srgbClr val="2E5A6E"/>
            </a:solidFill>
            <a:prstDash val="solid"/>
          </a:ln>
        </p:spPr>
        <p:txBody>
          <a:bodyPr/>
          <a:lstStyle/>
          <a:p>
            <a:endParaRPr lang="en-US"/>
          </a:p>
        </p:txBody>
      </p:sp>
      <p:sp>
        <p:nvSpPr>
          <p:cNvPr id="11" name="Text 9"/>
          <p:cNvSpPr/>
          <p:nvPr/>
        </p:nvSpPr>
        <p:spPr>
          <a:xfrm>
            <a:off x="6208776" y="1325880"/>
            <a:ext cx="2670048" cy="384048"/>
          </a:xfrm>
          <a:prstGeom prst="rect">
            <a:avLst/>
          </a:prstGeom>
          <a:noFill/>
          <a:ln/>
        </p:spPr>
        <p:txBody>
          <a:bodyPr wrap="square" lIns="0" tIns="0" rIns="0" bIns="0" rtlCol="0" anchor="ctr"/>
          <a:lstStyle/>
          <a:p>
            <a:pPr marL="0" indent="0" algn="ctr">
              <a:buNone/>
            </a:pPr>
            <a:r>
              <a:rPr lang="en-US" sz="2300" b="1" dirty="0">
                <a:solidFill>
                  <a:srgbClr val="E08A1E"/>
                </a:solidFill>
                <a:latin typeface="Cambria" pitchFamily="34" charset="0"/>
                <a:ea typeface="Cambria" pitchFamily="34" charset="-122"/>
                <a:cs typeface="Cambria" pitchFamily="34" charset="-120"/>
              </a:rPr>
              <a:t>11.7 ms</a:t>
            </a:r>
            <a:endParaRPr lang="en-US" sz="2300" dirty="0"/>
          </a:p>
        </p:txBody>
      </p:sp>
      <p:sp>
        <p:nvSpPr>
          <p:cNvPr id="12" name="Text 10"/>
          <p:cNvSpPr/>
          <p:nvPr/>
        </p:nvSpPr>
        <p:spPr>
          <a:xfrm>
            <a:off x="6208776" y="1719072"/>
            <a:ext cx="2670048" cy="384048"/>
          </a:xfrm>
          <a:prstGeom prst="rect">
            <a:avLst/>
          </a:prstGeom>
          <a:noFill/>
          <a:ln/>
        </p:spPr>
        <p:txBody>
          <a:bodyPr wrap="square" lIns="0" tIns="0" rIns="0" bIns="0" rtlCol="0" anchor="ctr"/>
          <a:lstStyle/>
          <a:p>
            <a:pPr marL="0" indent="0" algn="ctr">
              <a:buNone/>
            </a:pPr>
            <a:r>
              <a:rPr lang="en-US" sz="1000" dirty="0">
                <a:solidFill>
                  <a:srgbClr val="AFC4CF"/>
                </a:solidFill>
                <a:latin typeface="Calibri" pitchFamily="34" charset="0"/>
                <a:ea typeface="Calibri" pitchFamily="34" charset="-122"/>
                <a:cs typeface="Calibri" pitchFamily="34" charset="-120"/>
              </a:rPr>
              <a:t>delay margin, ≈ 6× the worst modelled T</a:t>
            </a:r>
            <a:r>
              <a:rPr lang="en-US" sz="1000" baseline="-40000" dirty="0">
                <a:solidFill>
                  <a:srgbClr val="AFC4CF"/>
                </a:solidFill>
                <a:latin typeface="Calibri" pitchFamily="34" charset="0"/>
                <a:ea typeface="Calibri" pitchFamily="34" charset="-122"/>
                <a:cs typeface="Calibri" pitchFamily="34" charset="-120"/>
              </a:rPr>
              <a:t>d</a:t>
            </a:r>
            <a:endParaRPr lang="en-US" sz="1000" dirty="0"/>
          </a:p>
        </p:txBody>
      </p:sp>
      <p:sp>
        <p:nvSpPr>
          <p:cNvPr id="13" name="Shape 11"/>
          <p:cNvSpPr/>
          <p:nvPr/>
        </p:nvSpPr>
        <p:spPr>
          <a:xfrm>
            <a:off x="9061704" y="1261872"/>
            <a:ext cx="2670048" cy="914400"/>
          </a:xfrm>
          <a:prstGeom prst="roundRect">
            <a:avLst>
              <a:gd name="adj" fmla="val 6000"/>
            </a:avLst>
          </a:prstGeom>
          <a:solidFill>
            <a:srgbClr val="1B3F51"/>
          </a:solidFill>
          <a:ln w="9525">
            <a:solidFill>
              <a:srgbClr val="2E5A6E"/>
            </a:solidFill>
            <a:prstDash val="solid"/>
          </a:ln>
        </p:spPr>
        <p:txBody>
          <a:bodyPr/>
          <a:lstStyle/>
          <a:p>
            <a:endParaRPr lang="en-US"/>
          </a:p>
        </p:txBody>
      </p:sp>
      <p:sp>
        <p:nvSpPr>
          <p:cNvPr id="14" name="Text 12"/>
          <p:cNvSpPr/>
          <p:nvPr/>
        </p:nvSpPr>
        <p:spPr>
          <a:xfrm>
            <a:off x="9061704" y="1325880"/>
            <a:ext cx="2670048" cy="384048"/>
          </a:xfrm>
          <a:prstGeom prst="rect">
            <a:avLst/>
          </a:prstGeom>
          <a:noFill/>
          <a:ln/>
        </p:spPr>
        <p:txBody>
          <a:bodyPr wrap="square" lIns="0" tIns="0" rIns="0" bIns="0" rtlCol="0" anchor="ctr"/>
          <a:lstStyle/>
          <a:p>
            <a:pPr marL="0" indent="0" algn="ctr">
              <a:buNone/>
            </a:pPr>
            <a:r>
              <a:rPr lang="en-US" sz="2300" b="1" dirty="0">
                <a:solidFill>
                  <a:srgbClr val="E08A1E"/>
                </a:solidFill>
                <a:latin typeface="Cambria" pitchFamily="34" charset="0"/>
                <a:ea typeface="Cambria" pitchFamily="34" charset="-122"/>
                <a:cs typeface="Cambria" pitchFamily="34" charset="-120"/>
              </a:rPr>
              <a:t>T(0) = 1</a:t>
            </a:r>
            <a:endParaRPr lang="en-US" sz="2300" dirty="0"/>
          </a:p>
        </p:txBody>
      </p:sp>
      <p:sp>
        <p:nvSpPr>
          <p:cNvPr id="15" name="Text 13"/>
          <p:cNvSpPr/>
          <p:nvPr/>
        </p:nvSpPr>
        <p:spPr>
          <a:xfrm>
            <a:off x="9061704" y="1719072"/>
            <a:ext cx="2670048" cy="384048"/>
          </a:xfrm>
          <a:prstGeom prst="rect">
            <a:avLst/>
          </a:prstGeom>
          <a:noFill/>
          <a:ln/>
        </p:spPr>
        <p:txBody>
          <a:bodyPr wrap="square" lIns="0" tIns="0" rIns="0" bIns="0" rtlCol="0" anchor="ctr"/>
          <a:lstStyle/>
          <a:p>
            <a:pPr marL="0" indent="0" algn="ctr">
              <a:buNone/>
            </a:pPr>
            <a:r>
              <a:rPr lang="en-US" sz="1000" dirty="0">
                <a:solidFill>
                  <a:srgbClr val="AFC4CF"/>
                </a:solidFill>
                <a:latin typeface="Calibri" pitchFamily="34" charset="0"/>
                <a:ea typeface="Calibri" pitchFamily="34" charset="-122"/>
                <a:cs typeface="Calibri" pitchFamily="34" charset="-120"/>
              </a:rPr>
              <a:t>exact, to machine precision</a:t>
            </a:r>
            <a:endParaRPr lang="en-US" sz="1000" dirty="0"/>
          </a:p>
        </p:txBody>
      </p:sp>
      <p:sp>
        <p:nvSpPr>
          <p:cNvPr id="16" name="Text 14"/>
          <p:cNvSpPr/>
          <p:nvPr/>
        </p:nvSpPr>
        <p:spPr>
          <a:xfrm>
            <a:off x="502920" y="2267712"/>
            <a:ext cx="11183112" cy="457200"/>
          </a:xfrm>
          <a:prstGeom prst="rect">
            <a:avLst/>
          </a:prstGeom>
          <a:noFill/>
          <a:ln/>
        </p:spPr>
        <p:txBody>
          <a:bodyPr wrap="square" lIns="0" tIns="0" rIns="0" bIns="0" rtlCol="0" anchor="ctr"/>
          <a:lstStyle/>
          <a:p>
            <a:pPr marL="0" indent="0">
              <a:buNone/>
            </a:pPr>
            <a:r>
              <a:rPr lang="en-US" sz="1150" b="1" dirty="0">
                <a:solidFill>
                  <a:srgbClr val="E08A1E"/>
                </a:solidFill>
                <a:latin typeface="Calibri" pitchFamily="34" charset="0"/>
                <a:ea typeface="Calibri" pitchFamily="34" charset="-122"/>
                <a:cs typeface="Calibri" pitchFamily="34" charset="-120"/>
              </a:rPr>
              <a:t>How M</a:t>
            </a:r>
            <a:r>
              <a:rPr lang="en-US" sz="1150" b="1" baseline="-40000" dirty="0">
                <a:solidFill>
                  <a:srgbClr val="E08A1E"/>
                </a:solidFill>
                <a:latin typeface="Calibri" pitchFamily="34" charset="0"/>
                <a:ea typeface="Calibri" pitchFamily="34" charset="-122"/>
                <a:cs typeface="Calibri" pitchFamily="34" charset="-120"/>
              </a:rPr>
              <a:t>2</a:t>
            </a:r>
            <a:r>
              <a:rPr lang="en-US" sz="1150" b="1" dirty="0">
                <a:solidFill>
                  <a:srgbClr val="E08A1E"/>
                </a:solidFill>
                <a:latin typeface="Calibri" pitchFamily="34" charset="0"/>
                <a:ea typeface="Calibri" pitchFamily="34" charset="-122"/>
                <a:cs typeface="Calibri" pitchFamily="34" charset="-120"/>
              </a:rPr>
              <a:t> moves:  </a:t>
            </a:r>
            <a:r>
              <a:rPr lang="en-US" sz="1150" dirty="0">
                <a:solidFill>
                  <a:srgbClr val="AFC4CF"/>
                </a:solidFill>
                <a:latin typeface="Calibri" pitchFamily="34" charset="0"/>
                <a:ea typeface="Calibri" pitchFamily="34" charset="-122"/>
                <a:cs typeface="Calibri" pitchFamily="34" charset="-120"/>
              </a:rPr>
              <a:t>gain and delay carry it. Mean M</a:t>
            </a:r>
            <a:r>
              <a:rPr lang="en-US" sz="1150" baseline="-40000" dirty="0">
                <a:solidFill>
                  <a:srgbClr val="AFC4CF"/>
                </a:solidFill>
                <a:latin typeface="Calibri" pitchFamily="34" charset="0"/>
                <a:ea typeface="Calibri" pitchFamily="34" charset="-122"/>
                <a:cs typeface="Calibri" pitchFamily="34" charset="-120"/>
              </a:rPr>
              <a:t>2</a:t>
            </a:r>
            <a:r>
              <a:rPr lang="en-US" sz="1150" dirty="0">
                <a:solidFill>
                  <a:srgbClr val="AFC4CF"/>
                </a:solidFill>
                <a:latin typeface="Calibri" pitchFamily="34" charset="0"/>
                <a:ea typeface="Calibri" pitchFamily="34" charset="-122"/>
                <a:cs typeface="Calibri" pitchFamily="34" charset="-120"/>
              </a:rPr>
              <a:t> falls 0.89 → 0.74 across K = 0.55 → 1.45, and 0.87 → 0.74 across T</a:t>
            </a:r>
            <a:r>
              <a:rPr lang="en-US" sz="1150" baseline="-40000" dirty="0">
                <a:solidFill>
                  <a:srgbClr val="AFC4CF"/>
                </a:solidFill>
                <a:latin typeface="Calibri" pitchFamily="34" charset="0"/>
                <a:ea typeface="Calibri" pitchFamily="34" charset="-122"/>
                <a:cs typeface="Calibri" pitchFamily="34" charset="-120"/>
              </a:rPr>
              <a:t>d</a:t>
            </a:r>
            <a:r>
              <a:rPr lang="en-US" sz="1150" dirty="0">
                <a:solidFill>
                  <a:srgbClr val="AFC4CF"/>
                </a:solidFill>
                <a:latin typeface="Calibri" pitchFamily="34" charset="0"/>
                <a:ea typeface="Calibri" pitchFamily="34" charset="-122"/>
                <a:cs typeface="Calibri" pitchFamily="34" charset="-120"/>
              </a:rPr>
              <a:t> = 0.5 → 2 ms. The prefilter costs a little (0.84 → 0.78). τ</a:t>
            </a:r>
            <a:r>
              <a:rPr lang="en-US" sz="1150" baseline="-40000" dirty="0">
                <a:solidFill>
                  <a:srgbClr val="AFC4CF"/>
                </a:solidFill>
                <a:latin typeface="Calibri" pitchFamily="34" charset="0"/>
                <a:ea typeface="Calibri" pitchFamily="34" charset="-122"/>
                <a:cs typeface="Calibri" pitchFamily="34" charset="-120"/>
              </a:rPr>
              <a:t>r</a:t>
            </a:r>
            <a:r>
              <a:rPr lang="en-US" sz="1150" dirty="0">
                <a:solidFill>
                  <a:srgbClr val="AFC4CF"/>
                </a:solidFill>
                <a:latin typeface="Calibri" pitchFamily="34" charset="0"/>
                <a:ea typeface="Calibri" pitchFamily="34" charset="-122"/>
                <a:cs typeface="Calibri" pitchFamily="34" charset="-120"/>
              </a:rPr>
              <a:t> does almost nothing (0.82 vs 0.80 over 20 → 300 µs) — the converter lag is 2.5 decades out of band, which is why lumping it is safe. 54 of 60 corners stay above 0.70; the 0.59 worst case stacks all four extremes at once.</a:t>
            </a:r>
            <a:endParaRPr lang="en-US" sz="1150" dirty="0"/>
          </a:p>
        </p:txBody>
      </p:sp>
      <p:pic>
        <p:nvPicPr>
          <p:cNvPr id="17" name="Image 0" descr="C:\Users\ricky\AppData\Local\Temp\claude\C--Life-Ops-School-Thesis-DC-Balancer-Board-Teensy\aa67aa49-50cd-4b2e-b61e-1c0131c86be2\scratchpad\f_loopshapes.png"/>
          <p:cNvPicPr>
            <a:picLocks noChangeAspect="1"/>
          </p:cNvPicPr>
          <p:nvPr/>
        </p:nvPicPr>
        <p:blipFill>
          <a:blip r:embed="rId3"/>
          <a:stretch>
            <a:fillRect/>
          </a:stretch>
        </p:blipFill>
        <p:spPr>
          <a:xfrm>
            <a:off x="502920" y="2788920"/>
            <a:ext cx="5486400" cy="2926080"/>
          </a:xfrm>
          <a:prstGeom prst="rect">
            <a:avLst/>
          </a:prstGeom>
        </p:spPr>
      </p:pic>
      <p:pic>
        <p:nvPicPr>
          <p:cNvPr id="18" name="Image 1" descr="C:\Users\ricky\AppData\Local\Temp\claude\C--Life-Ops-School-Thesis-DC-Balancer-Board-Teensy\aa67aa49-50cd-4b2e-b61e-1c0131c86be2\scratchpad\f_ctrlbode.png"/>
          <p:cNvPicPr>
            <a:picLocks noChangeAspect="1"/>
          </p:cNvPicPr>
          <p:nvPr/>
        </p:nvPicPr>
        <p:blipFill>
          <a:blip r:embed="rId4"/>
          <a:stretch>
            <a:fillRect/>
          </a:stretch>
        </p:blipFill>
        <p:spPr>
          <a:xfrm>
            <a:off x="6199632" y="2788920"/>
            <a:ext cx="5486400" cy="2926080"/>
          </a:xfrm>
          <a:prstGeom prst="rect">
            <a:avLst/>
          </a:prstGeom>
        </p:spPr>
      </p:pic>
      <p:sp>
        <p:nvSpPr>
          <p:cNvPr id="19" name="Text 15"/>
          <p:cNvSpPr/>
          <p:nvPr/>
        </p:nvSpPr>
        <p:spPr>
          <a:xfrm>
            <a:off x="502920" y="5760720"/>
            <a:ext cx="5486400" cy="219456"/>
          </a:xfrm>
          <a:prstGeom prst="rect">
            <a:avLst/>
          </a:prstGeom>
          <a:noFill/>
          <a:ln/>
        </p:spPr>
        <p:txBody>
          <a:bodyPr wrap="square" lIns="0" tIns="0" rIns="0" bIns="0" rtlCol="0" anchor="ctr"/>
          <a:lstStyle/>
          <a:p>
            <a:pPr marL="0" indent="0" algn="ctr">
              <a:buNone/>
            </a:pPr>
            <a:r>
              <a:rPr lang="en-US" sz="1000" i="1" dirty="0">
                <a:solidFill>
                  <a:srgbClr val="8FA8B5"/>
                </a:solidFill>
                <a:latin typeface="Calibri" pitchFamily="34" charset="0"/>
                <a:ea typeface="Calibri" pitchFamily="34" charset="-122"/>
                <a:cs typeface="Calibri" pitchFamily="34" charset="-120"/>
              </a:rPr>
              <a:t>Closed loop: S, T and Y sit under their inverse weights. γ = 0.653, crossover 110 rad/s.</a:t>
            </a:r>
            <a:endParaRPr lang="en-US" sz="1000" dirty="0"/>
          </a:p>
        </p:txBody>
      </p:sp>
      <p:sp>
        <p:nvSpPr>
          <p:cNvPr id="20" name="Text 16"/>
          <p:cNvSpPr/>
          <p:nvPr/>
        </p:nvSpPr>
        <p:spPr>
          <a:xfrm>
            <a:off x="6199632" y="5760720"/>
            <a:ext cx="5486400" cy="219456"/>
          </a:xfrm>
          <a:prstGeom prst="rect">
            <a:avLst/>
          </a:prstGeom>
          <a:noFill/>
          <a:ln/>
        </p:spPr>
        <p:txBody>
          <a:bodyPr wrap="square" lIns="0" tIns="0" rIns="0" bIns="0" rtlCol="0" anchor="ctr"/>
          <a:lstStyle/>
          <a:p>
            <a:pPr marL="0" indent="0" algn="ctr">
              <a:buNone/>
            </a:pPr>
            <a:r>
              <a:rPr lang="en-US" sz="1000" i="1" dirty="0">
                <a:solidFill>
                  <a:srgbClr val="8FA8B5"/>
                </a:solidFill>
                <a:latin typeface="Calibri" pitchFamily="34" charset="0"/>
                <a:ea typeface="Calibri" pitchFamily="34" charset="-122"/>
                <a:cs typeface="Calibri" pitchFamily="34" charset="-120"/>
              </a:rPr>
              <a:t>Controller: the integrator is the diverging low-frequency branch. Reduction and discretisation track it.</a:t>
            </a:r>
            <a:endParaRPr lang="en-US" sz="1000" dirty="0"/>
          </a:p>
        </p:txBody>
      </p:sp>
      <p:sp>
        <p:nvSpPr>
          <p:cNvPr id="21" name="Text 17"/>
          <p:cNvSpPr/>
          <p:nvPr/>
        </p:nvSpPr>
        <p:spPr>
          <a:xfrm>
            <a:off x="502920" y="6089904"/>
            <a:ext cx="11183112" cy="237744"/>
          </a:xfrm>
          <a:prstGeom prst="rect">
            <a:avLst/>
          </a:prstGeom>
          <a:noFill/>
          <a:ln/>
        </p:spPr>
        <p:txBody>
          <a:bodyPr wrap="square" lIns="0" tIns="0" rIns="0" bIns="0" rtlCol="0" anchor="ctr"/>
          <a:lstStyle/>
          <a:p>
            <a:pPr marL="0" indent="0">
              <a:buNone/>
            </a:pPr>
            <a:r>
              <a:rPr lang="en-US" sz="1100" dirty="0">
                <a:solidFill>
                  <a:srgbClr val="AFC4CF"/>
                </a:solidFill>
                <a:latin typeface="Calibri" pitchFamily="34" charset="0"/>
                <a:ea typeface="Calibri" pitchFamily="34" charset="-122"/>
                <a:cs typeface="Calibri" pitchFamily="34" charset="-120"/>
              </a:rPr>
              <a:t>Independent check: an 11-state TPS61288 model over 432 operating points, 432/432 stable, worst ‖S‖</a:t>
            </a:r>
            <a:r>
              <a:rPr lang="en-US" sz="1100" baseline="-40000" dirty="0">
                <a:solidFill>
                  <a:srgbClr val="AFC4CF"/>
                </a:solidFill>
                <a:latin typeface="Calibri" pitchFamily="34" charset="0"/>
                <a:ea typeface="Calibri" pitchFamily="34" charset="-122"/>
                <a:cs typeface="Calibri" pitchFamily="34" charset="-120"/>
              </a:rPr>
              <a:t>∞</a:t>
            </a:r>
            <a:r>
              <a:rPr lang="en-US" sz="1100" dirty="0">
                <a:solidFill>
                  <a:srgbClr val="AFC4CF"/>
                </a:solidFill>
                <a:latin typeface="Calibri" pitchFamily="34" charset="0"/>
                <a:ea typeface="Calibri" pitchFamily="34" charset="-122"/>
                <a:cs typeface="Calibri" pitchFamily="34" charset="-120"/>
              </a:rPr>
              <a:t> 1.24. Next: bench-calibrate ΔV</a:t>
            </a:r>
            <a:r>
              <a:rPr lang="en-US" sz="1100" baseline="-40000" dirty="0">
                <a:solidFill>
                  <a:srgbClr val="AFC4CF"/>
                </a:solidFill>
                <a:latin typeface="Calibri" pitchFamily="34" charset="0"/>
                <a:ea typeface="Calibri" pitchFamily="34" charset="-122"/>
                <a:cs typeface="Calibri" pitchFamily="34" charset="-120"/>
              </a:rPr>
              <a:t>0</a:t>
            </a:r>
            <a:r>
              <a:rPr lang="en-US" sz="1100" dirty="0">
                <a:solidFill>
                  <a:srgbClr val="AFC4CF"/>
                </a:solidFill>
                <a:latin typeface="Calibri" pitchFamily="34" charset="0"/>
                <a:ea typeface="Calibri" pitchFamily="34" charset="-122"/>
                <a:cs typeface="Calibri" pitchFamily="34" charset="-120"/>
              </a:rPr>
              <a:t>, T</a:t>
            </a:r>
            <a:r>
              <a:rPr lang="en-US" sz="1100" baseline="-40000" dirty="0">
                <a:solidFill>
                  <a:srgbClr val="AFC4CF"/>
                </a:solidFill>
                <a:latin typeface="Calibri" pitchFamily="34" charset="0"/>
                <a:ea typeface="Calibri" pitchFamily="34" charset="-122"/>
                <a:cs typeface="Calibri" pitchFamily="34" charset="-120"/>
              </a:rPr>
              <a:t>d</a:t>
            </a:r>
            <a:r>
              <a:rPr lang="en-US" sz="1100" dirty="0">
                <a:solidFill>
                  <a:srgbClr val="AFC4CF"/>
                </a:solidFill>
                <a:latin typeface="Calibri" pitchFamily="34" charset="0"/>
                <a:ea typeface="Calibri" pitchFamily="34" charset="-122"/>
                <a:cs typeface="Calibri" pitchFamily="34" charset="-120"/>
              </a:rPr>
              <a:t>, τ</a:t>
            </a:r>
            <a:r>
              <a:rPr lang="en-US" sz="1100" baseline="-40000" dirty="0">
                <a:solidFill>
                  <a:srgbClr val="AFC4CF"/>
                </a:solidFill>
                <a:latin typeface="Calibri" pitchFamily="34" charset="0"/>
                <a:ea typeface="Calibri" pitchFamily="34" charset="-122"/>
                <a:cs typeface="Calibri" pitchFamily="34" charset="-120"/>
              </a:rPr>
              <a:t>r</a:t>
            </a:r>
            <a:r>
              <a:rPr lang="en-US" sz="1100" dirty="0">
                <a:solidFill>
                  <a:srgbClr val="AFC4CF"/>
                </a:solidFill>
                <a:latin typeface="Calibri" pitchFamily="34" charset="0"/>
                <a:ea typeface="Calibri" pitchFamily="34" charset="-122"/>
                <a:cs typeface="Calibri" pitchFamily="34" charset="-120"/>
              </a:rPr>
              <a:t>, k</a:t>
            </a:r>
            <a:r>
              <a:rPr lang="en-US" sz="1100" baseline="-40000" dirty="0">
                <a:solidFill>
                  <a:srgbClr val="AFC4CF"/>
                </a:solidFill>
                <a:latin typeface="Calibri" pitchFamily="34" charset="0"/>
                <a:ea typeface="Calibri" pitchFamily="34" charset="-122"/>
                <a:cs typeface="Calibri" pitchFamily="34" charset="-120"/>
              </a:rPr>
              <a:t>d</a:t>
            </a:r>
            <a:r>
              <a:rPr lang="en-US" sz="1100" dirty="0">
                <a:solidFill>
                  <a:srgbClr val="AFC4CF"/>
                </a:solidFill>
                <a:latin typeface="Calibri" pitchFamily="34" charset="0"/>
                <a:ea typeface="Calibri" pitchFamily="34" charset="-122"/>
                <a:cs typeface="Calibri" pitchFamily="34" charset="-120"/>
              </a:rPr>
              <a:t> and regenerate.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7"/>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marL="0" indent="0">
              <a:buNone/>
            </a:pPr>
            <a:r>
              <a:rPr lang="en-US" sz="1200" b="1" kern="0" spc="160" dirty="0">
                <a:solidFill>
                  <a:srgbClr val="1C7293"/>
                </a:solidFill>
                <a:latin typeface="Calibri" pitchFamily="34" charset="0"/>
                <a:ea typeface="Calibri" pitchFamily="34" charset="-122"/>
                <a:cs typeface="Calibri" pitchFamily="34" charset="-120"/>
              </a:rPr>
              <a:t>IMPLEMENTATION — C++</a:t>
            </a:r>
            <a:endParaRPr lang="en-US" sz="1200" dirty="0"/>
          </a:p>
        </p:txBody>
      </p:sp>
      <p:sp>
        <p:nvSpPr>
          <p:cNvPr id="3" name="Text 1"/>
          <p:cNvSpPr/>
          <p:nvPr/>
        </p:nvSpPr>
        <p:spPr>
          <a:xfrm>
            <a:off x="502920" y="566928"/>
            <a:ext cx="11155680" cy="566928"/>
          </a:xfrm>
          <a:prstGeom prst="rect">
            <a:avLst/>
          </a:prstGeom>
          <a:noFill/>
          <a:ln/>
        </p:spPr>
        <p:txBody>
          <a:bodyPr wrap="square" lIns="0" tIns="0" rIns="0" bIns="0" rtlCol="0" anchor="ctr"/>
          <a:lstStyle/>
          <a:p>
            <a:pPr marL="0" indent="0">
              <a:buNone/>
            </a:pPr>
            <a:r>
              <a:rPr lang="en-US" sz="3200" b="1" dirty="0">
                <a:solidFill>
                  <a:srgbClr val="12303F"/>
                </a:solidFill>
                <a:latin typeface="Cambria" pitchFamily="34" charset="0"/>
                <a:ea typeface="Cambria" pitchFamily="34" charset="-122"/>
                <a:cs typeface="Cambria" pitchFamily="34" charset="-120"/>
              </a:rPr>
              <a:t>Two parallel paths, four float states</a:t>
            </a:r>
            <a:endParaRPr lang="en-US" sz="3200" dirty="0"/>
          </a:p>
        </p:txBody>
      </p:sp>
      <p:sp>
        <p:nvSpPr>
          <p:cNvPr id="4" name="Shape 2"/>
          <p:cNvSpPr/>
          <p:nvPr/>
        </p:nvSpPr>
        <p:spPr>
          <a:xfrm>
            <a:off x="502920" y="1325880"/>
            <a:ext cx="6263640" cy="4892040"/>
          </a:xfrm>
          <a:prstGeom prst="roundRect">
            <a:avLst>
              <a:gd name="adj" fmla="val 1495"/>
            </a:avLst>
          </a:prstGeom>
          <a:solidFill>
            <a:srgbClr val="FFFFFF"/>
          </a:solidFill>
          <a:ln w="9525">
            <a:solidFill>
              <a:srgbClr val="DCE3E7"/>
            </a:solidFill>
            <a:prstDash val="solid"/>
          </a:ln>
          <a:effectLst>
            <a:outerShdw blurRad="101600" dist="12700" dir="5400000" algn="bl" rotWithShape="0">
              <a:srgbClr val="203040">
                <a:alpha val="8000"/>
              </a:srgbClr>
            </a:outerShdw>
          </a:effectLst>
        </p:spPr>
        <p:txBody>
          <a:bodyPr/>
          <a:lstStyle/>
          <a:p>
            <a:endParaRPr lang="en-US"/>
          </a:p>
        </p:txBody>
      </p:sp>
      <p:sp>
        <p:nvSpPr>
          <p:cNvPr id="5" name="Text 3"/>
          <p:cNvSpPr/>
          <p:nvPr/>
        </p:nvSpPr>
        <p:spPr>
          <a:xfrm>
            <a:off x="731520" y="1463040"/>
            <a:ext cx="5852160" cy="237744"/>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teensy_controller/share_controller.h — shareControllerStep()</a:t>
            </a:r>
            <a:endParaRPr lang="en-US" sz="1200" dirty="0"/>
          </a:p>
        </p:txBody>
      </p:sp>
      <p:sp>
        <p:nvSpPr>
          <p:cNvPr id="6" name="Shape 4"/>
          <p:cNvSpPr/>
          <p:nvPr/>
        </p:nvSpPr>
        <p:spPr>
          <a:xfrm>
            <a:off x="731520" y="1755648"/>
            <a:ext cx="5806440" cy="3931920"/>
          </a:xfrm>
          <a:prstGeom prst="roundRect">
            <a:avLst>
              <a:gd name="adj" fmla="val 1163"/>
            </a:avLst>
          </a:prstGeom>
          <a:solidFill>
            <a:srgbClr val="10262F"/>
          </a:solidFill>
          <a:ln w="12700">
            <a:solidFill>
              <a:srgbClr val="10262F"/>
            </a:solidFill>
            <a:prstDash val="solid"/>
          </a:ln>
        </p:spPr>
        <p:txBody>
          <a:bodyPr/>
          <a:lstStyle/>
          <a:p>
            <a:endParaRPr lang="en-US"/>
          </a:p>
        </p:txBody>
      </p:sp>
      <p:sp>
        <p:nvSpPr>
          <p:cNvPr id="7" name="Text 5"/>
          <p:cNvSpPr/>
          <p:nvPr/>
        </p:nvSpPr>
        <p:spPr>
          <a:xfrm>
            <a:off x="868680" y="1847088"/>
            <a:ext cx="5577840" cy="3749040"/>
          </a:xfrm>
          <a:prstGeom prst="rect">
            <a:avLst/>
          </a:prstGeom>
          <a:noFill/>
          <a:ln/>
        </p:spPr>
        <p:txBody>
          <a:bodyPr wrap="square" lIns="0" tIns="0" rIns="0" bIns="0" rtlCol="0" anchor="ctr"/>
          <a:lstStyle/>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 R(z): cascade of DF2T biquads</a:t>
            </a: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float x = e;</a:t>
            </a: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for (int i = 0; i &lt; SHARE_CTRL_NSOS; i++) {</a:t>
            </a: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    const float *c = SHARE_CTRL_SOS[i];  // b0 b1 b2 a1 a2</a:t>
            </a: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    float y = c[0]*x + state[i][0];</a:t>
            </a: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    state[i][0] = c[1]*x - c[3]*y + state[i][1];</a:t>
            </a: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    state[i][1] = c[2]*x - c[4]*y;</a:t>
            </a: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    x = y;</a:t>
            </a: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a:t>
            </a:r>
            <a:endParaRPr lang="en-US" sz="1000" dirty="0"/>
          </a:p>
          <a:p>
            <a:pPr marL="0" indent="0">
              <a:lnSpc>
                <a:spcPts val="1400"/>
              </a:lnSpc>
              <a:buNone/>
            </a:pP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 I(z): trapezoidal integrator</a:t>
            </a: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float integNew = integ + KI * Ts * 0.5f * (e + eprev);</a:t>
            </a: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float u = 0.5f + x + integNew;</a:t>
            </a:r>
            <a:endParaRPr lang="en-US" sz="1000" dirty="0"/>
          </a:p>
          <a:p>
            <a:pPr marL="0" indent="0">
              <a:lnSpc>
                <a:spcPts val="1400"/>
              </a:lnSpc>
              <a:buNone/>
            </a:pP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 back-calculation anti-windup on the clamp</a:t>
            </a: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if      (u &gt; rmax) { integNew -= (u - rmax); u = rmax; }</a:t>
            </a: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else if (u &lt; rmin) { integNew += (rmin - u); u = rmin; }</a:t>
            </a:r>
            <a:endParaRPr lang="en-US" sz="1000" dirty="0"/>
          </a:p>
          <a:p>
            <a:pPr marL="0" indent="0">
              <a:lnSpc>
                <a:spcPts val="1400"/>
              </a:lnSpc>
              <a:buNone/>
            </a:pP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integ = integNew;  eprev = e;</a:t>
            </a:r>
            <a:endParaRPr lang="en-US" sz="1000" dirty="0"/>
          </a:p>
          <a:p>
            <a:pPr marL="0" indent="0">
              <a:lnSpc>
                <a:spcPts val="1400"/>
              </a:lnSpc>
              <a:buNone/>
            </a:pPr>
            <a:r>
              <a:rPr lang="en-US" sz="1000" dirty="0">
                <a:solidFill>
                  <a:srgbClr val="D6E3EA"/>
                </a:solidFill>
                <a:latin typeface="Courier New" pitchFamily="34" charset="0"/>
                <a:ea typeface="Courier New" pitchFamily="34" charset="-122"/>
                <a:cs typeface="Courier New" pitchFamily="34" charset="-120"/>
              </a:rPr>
              <a:t>return u;   // droop ratio r</a:t>
            </a:r>
            <a:endParaRPr lang="en-US" sz="1000" dirty="0"/>
          </a:p>
        </p:txBody>
      </p:sp>
      <p:sp>
        <p:nvSpPr>
          <p:cNvPr id="8" name="Text 6"/>
          <p:cNvSpPr/>
          <p:nvPr/>
        </p:nvSpPr>
        <p:spPr>
          <a:xfrm>
            <a:off x="731520" y="5779008"/>
            <a:ext cx="5806440" cy="384048"/>
          </a:xfrm>
          <a:prstGeom prst="rect">
            <a:avLst/>
          </a:prstGeom>
          <a:noFill/>
          <a:ln/>
        </p:spPr>
        <p:txBody>
          <a:bodyPr wrap="square" lIns="0" tIns="0" rIns="0" bIns="0" rtlCol="0" anchor="ctr"/>
          <a:lstStyle/>
          <a:p>
            <a:pPr marL="0" indent="0">
              <a:buNone/>
            </a:pPr>
            <a:r>
              <a:rPr lang="en-US" sz="950" dirty="0">
                <a:solidFill>
                  <a:srgbClr val="6B7C87"/>
                </a:solidFill>
                <a:latin typeface="Calibri" pitchFamily="34" charset="0"/>
                <a:ea typeface="Calibri" pitchFamily="34" charset="-122"/>
                <a:cs typeface="Calibri" pitchFamily="34" charset="-120"/>
              </a:rPr>
              <a:t>Coefficients generated by synthesize_controller.py · the wrapper gates this step to 1 ms on micros() and holds the output between ticks — that ZOH is in the design plant · replay-tested against the Python reference, tol 5·10⁻⁴.</a:t>
            </a:r>
            <a:endParaRPr lang="en-US" sz="950" dirty="0"/>
          </a:p>
        </p:txBody>
      </p:sp>
      <p:sp>
        <p:nvSpPr>
          <p:cNvPr id="9" name="Shape 7"/>
          <p:cNvSpPr/>
          <p:nvPr/>
        </p:nvSpPr>
        <p:spPr>
          <a:xfrm>
            <a:off x="6995160" y="1325880"/>
            <a:ext cx="4690872" cy="1143000"/>
          </a:xfrm>
          <a:prstGeom prst="roundRect">
            <a:avLst>
              <a:gd name="adj" fmla="val 6400"/>
            </a:avLst>
          </a:prstGeom>
          <a:solidFill>
            <a:srgbClr val="FFFFFF"/>
          </a:solidFill>
          <a:ln w="9525">
            <a:solidFill>
              <a:srgbClr val="DCE3E7"/>
            </a:solidFill>
            <a:prstDash val="solid"/>
          </a:ln>
          <a:effectLst>
            <a:outerShdw blurRad="101600" dist="12700" dir="5400000" algn="bl" rotWithShape="0">
              <a:srgbClr val="203040">
                <a:alpha val="8000"/>
              </a:srgbClr>
            </a:outerShdw>
          </a:effectLst>
        </p:spPr>
        <p:txBody>
          <a:bodyPr/>
          <a:lstStyle/>
          <a:p>
            <a:endParaRPr lang="en-US"/>
          </a:p>
        </p:txBody>
      </p:sp>
      <p:sp>
        <p:nvSpPr>
          <p:cNvPr id="10" name="Text 8"/>
          <p:cNvSpPr/>
          <p:nvPr/>
        </p:nvSpPr>
        <p:spPr>
          <a:xfrm>
            <a:off x="7223760" y="1408176"/>
            <a:ext cx="4297680" cy="219456"/>
          </a:xfrm>
          <a:prstGeom prst="rect">
            <a:avLst/>
          </a:prstGeom>
          <a:noFill/>
          <a:ln/>
        </p:spPr>
        <p:txBody>
          <a:bodyPr wrap="square" lIns="0" tIns="0" rIns="0" bIns="0" rtlCol="0" anchor="ctr"/>
          <a:lstStyle/>
          <a:p>
            <a:pPr marL="0" indent="0">
              <a:buNone/>
            </a:pPr>
            <a:r>
              <a:rPr lang="en-US" sz="1200" b="1" dirty="0">
                <a:solidFill>
                  <a:srgbClr val="12303F"/>
                </a:solidFill>
                <a:latin typeface="Calibri" pitchFamily="34" charset="0"/>
                <a:ea typeface="Calibri" pitchFamily="34" charset="-122"/>
                <a:cs typeface="Calibri" pitchFamily="34" charset="-120"/>
              </a:rPr>
              <a:t>The split is the design, not a choice</a:t>
            </a:r>
            <a:endParaRPr lang="en-US" sz="1200" dirty="0"/>
          </a:p>
        </p:txBody>
      </p:sp>
      <p:sp>
        <p:nvSpPr>
          <p:cNvPr id="11" name="Text 9"/>
          <p:cNvSpPr/>
          <p:nvPr/>
        </p:nvSpPr>
        <p:spPr>
          <a:xfrm>
            <a:off x="7223760" y="1664208"/>
            <a:ext cx="4315968" cy="731520"/>
          </a:xfrm>
          <a:prstGeom prst="rect">
            <a:avLst/>
          </a:prstGeom>
          <a:noFill/>
          <a:ln/>
        </p:spPr>
        <p:txBody>
          <a:bodyPr wrap="square" lIns="0" tIns="0" rIns="0" bIns="0" rtlCol="0" anchor="ctr"/>
          <a:lstStyle/>
          <a:p>
            <a:pPr marL="0" indent="0">
              <a:buNone/>
            </a:pPr>
            <a:r>
              <a:rPr lang="en-US" sz="1000" dirty="0">
                <a:solidFill>
                  <a:srgbClr val="6B7C87"/>
                </a:solidFill>
                <a:latin typeface="Calibri" pitchFamily="34" charset="0"/>
                <a:ea typeface="Calibri" pitchFamily="34" charset="-122"/>
                <a:cs typeface="Calibri" pitchFamily="34" charset="-120"/>
              </a:rPr>
              <a:t>G</a:t>
            </a:r>
            <a:r>
              <a:rPr lang="en-US" sz="1000" baseline="-40000" dirty="0">
                <a:solidFill>
                  <a:srgbClr val="6B7C87"/>
                </a:solidFill>
                <a:latin typeface="Calibri" pitchFamily="34" charset="0"/>
                <a:ea typeface="Calibri" pitchFamily="34" charset="-122"/>
                <a:cs typeface="Calibri" pitchFamily="34" charset="-120"/>
              </a:rPr>
              <a:t>C,YH</a:t>
            </a:r>
            <a:r>
              <a:rPr lang="en-US" sz="1000" dirty="0">
                <a:solidFill>
                  <a:srgbClr val="6B7C87"/>
                </a:solidFill>
                <a:latin typeface="Calibri" pitchFamily="34" charset="0"/>
                <a:ea typeface="Calibri" pitchFamily="34" charset="-122"/>
                <a:cs typeface="Calibri" pitchFamily="34" charset="-120"/>
              </a:rPr>
              <a:t> factors as k</a:t>
            </a:r>
            <a:r>
              <a:rPr lang="en-US" sz="1000" baseline="-40000" dirty="0">
                <a:solidFill>
                  <a:srgbClr val="6B7C87"/>
                </a:solidFill>
                <a:latin typeface="Calibri" pitchFamily="34" charset="0"/>
                <a:ea typeface="Calibri" pitchFamily="34" charset="-122"/>
                <a:cs typeface="Calibri" pitchFamily="34" charset="-120"/>
              </a:rPr>
              <a:t>I</a:t>
            </a:r>
            <a:r>
              <a:rPr lang="en-US" sz="1000" dirty="0">
                <a:solidFill>
                  <a:srgbClr val="6B7C87"/>
                </a:solidFill>
                <a:latin typeface="Calibri" pitchFamily="34" charset="0"/>
                <a:ea typeface="Calibri" pitchFamily="34" charset="-122"/>
                <a:cs typeface="Calibri" pitchFamily="34" charset="-120"/>
              </a:rPr>
              <a:t>/s + R(s), so the code is that sum: u = 0.5 + R(z)·e + I(z)·e, both paths driven by the same error. The 0.5 is only the zero-state output, not a linearisation point — the integrator carries the setpoint, settling at α</a:t>
            </a:r>
            <a:r>
              <a:rPr lang="en-US" sz="1000" baseline="-40000" dirty="0">
                <a:solidFill>
                  <a:srgbClr val="6B7C87"/>
                </a:solidFill>
                <a:latin typeface="Calibri" pitchFamily="34" charset="0"/>
                <a:ea typeface="Calibri" pitchFamily="34" charset="-122"/>
                <a:cs typeface="Calibri" pitchFamily="34" charset="-120"/>
              </a:rPr>
              <a:t>req</a:t>
            </a:r>
            <a:r>
              <a:rPr lang="en-US" sz="1000" dirty="0">
                <a:solidFill>
                  <a:srgbClr val="6B7C87"/>
                </a:solidFill>
                <a:latin typeface="Calibri" pitchFamily="34" charset="0"/>
                <a:ea typeface="Calibri" pitchFamily="34" charset="-122"/>
                <a:cs typeface="Calibri" pitchFamily="34" charset="-120"/>
              </a:rPr>
              <a:t> − 0.5. Keeping it exact and separate makes T(0) = 1 structural; R(z) is the phase lead that pays for the 1 ms delay.</a:t>
            </a:r>
            <a:endParaRPr lang="en-US" sz="1000" dirty="0"/>
          </a:p>
        </p:txBody>
      </p:sp>
      <p:sp>
        <p:nvSpPr>
          <p:cNvPr id="12" name="Shape 10"/>
          <p:cNvSpPr/>
          <p:nvPr/>
        </p:nvSpPr>
        <p:spPr>
          <a:xfrm>
            <a:off x="6995160" y="2537460"/>
            <a:ext cx="4690872" cy="914400"/>
          </a:xfrm>
          <a:prstGeom prst="roundRect">
            <a:avLst>
              <a:gd name="adj" fmla="val 8000"/>
            </a:avLst>
          </a:prstGeom>
          <a:solidFill>
            <a:srgbClr val="FFFFFF"/>
          </a:solidFill>
          <a:ln w="9525">
            <a:solidFill>
              <a:srgbClr val="DCE3E7"/>
            </a:solidFill>
            <a:prstDash val="solid"/>
          </a:ln>
          <a:effectLst>
            <a:outerShdw blurRad="101600" dist="12700" dir="5400000" algn="bl" rotWithShape="0">
              <a:srgbClr val="203040">
                <a:alpha val="8000"/>
              </a:srgbClr>
            </a:outerShdw>
          </a:effectLst>
        </p:spPr>
        <p:txBody>
          <a:bodyPr/>
          <a:lstStyle/>
          <a:p>
            <a:endParaRPr lang="en-US"/>
          </a:p>
        </p:txBody>
      </p:sp>
      <p:sp>
        <p:nvSpPr>
          <p:cNvPr id="13" name="Text 11"/>
          <p:cNvSpPr/>
          <p:nvPr/>
        </p:nvSpPr>
        <p:spPr>
          <a:xfrm>
            <a:off x="7223760" y="2619756"/>
            <a:ext cx="4297680" cy="219456"/>
          </a:xfrm>
          <a:prstGeom prst="rect">
            <a:avLst/>
          </a:prstGeom>
          <a:noFill/>
          <a:ln/>
        </p:spPr>
        <p:txBody>
          <a:bodyPr wrap="square" lIns="0" tIns="0" rIns="0" bIns="0" rtlCol="0" anchor="ctr"/>
          <a:lstStyle/>
          <a:p>
            <a:pPr marL="0" indent="0">
              <a:buNone/>
            </a:pPr>
            <a:r>
              <a:rPr lang="en-US" sz="1200" b="1" dirty="0">
                <a:solidFill>
                  <a:srgbClr val="12303F"/>
                </a:solidFill>
                <a:latin typeface="Calibri" pitchFamily="34" charset="0"/>
                <a:ea typeface="Calibri" pitchFamily="34" charset="-122"/>
                <a:cs typeface="Calibri" pitchFamily="34" charset="-120"/>
              </a:rPr>
              <a:t>Trapezoidal, because R(z) is Tustin</a:t>
            </a:r>
            <a:endParaRPr lang="en-US" sz="1200" dirty="0"/>
          </a:p>
        </p:txBody>
      </p:sp>
      <p:sp>
        <p:nvSpPr>
          <p:cNvPr id="14" name="Text 12"/>
          <p:cNvSpPr/>
          <p:nvPr/>
        </p:nvSpPr>
        <p:spPr>
          <a:xfrm>
            <a:off x="7223760" y="2875788"/>
            <a:ext cx="4315968" cy="502920"/>
          </a:xfrm>
          <a:prstGeom prst="rect">
            <a:avLst/>
          </a:prstGeom>
          <a:noFill/>
          <a:ln/>
        </p:spPr>
        <p:txBody>
          <a:bodyPr wrap="square" lIns="0" tIns="0" rIns="0" bIns="0" rtlCol="0" anchor="ctr"/>
          <a:lstStyle/>
          <a:p>
            <a:pPr marL="0" indent="0">
              <a:buNone/>
            </a:pPr>
            <a:r>
              <a:rPr lang="en-US" sz="1000" dirty="0">
                <a:solidFill>
                  <a:srgbClr val="6B7C87"/>
                </a:solidFill>
                <a:latin typeface="Calibri" pitchFamily="34" charset="0"/>
                <a:ea typeface="Calibri" pitchFamily="34" charset="-122"/>
                <a:cs typeface="Calibri" pitchFamily="34" charset="-120"/>
              </a:rPr>
              <a:t>The integrator must use the same s→z map as the sections, or the two paths' phase disagrees and their sum is no longer the G</a:t>
            </a:r>
            <a:r>
              <a:rPr lang="en-US" sz="1000" baseline="-40000" dirty="0">
                <a:solidFill>
                  <a:srgbClr val="6B7C87"/>
                </a:solidFill>
                <a:latin typeface="Calibri" pitchFamily="34" charset="0"/>
                <a:ea typeface="Calibri" pitchFamily="34" charset="-122"/>
                <a:cs typeface="Calibri" pitchFamily="34" charset="-120"/>
              </a:rPr>
              <a:t>C</a:t>
            </a:r>
            <a:r>
              <a:rPr lang="en-US" sz="1000" dirty="0">
                <a:solidFill>
                  <a:srgbClr val="6B7C87"/>
                </a:solidFill>
                <a:latin typeface="Calibri" pitchFamily="34" charset="0"/>
                <a:ea typeface="Calibri" pitchFamily="34" charset="-122"/>
                <a:cs typeface="Calibri" pitchFamily="34" charset="-120"/>
              </a:rPr>
              <a:t>(z) that was validated. Tustin also maps the LHP inside the unit disc, so stability survives, and at 1 kHz against a 17.5 Hz crossover the warping is nil.</a:t>
            </a:r>
            <a:endParaRPr lang="en-US" sz="1000" dirty="0"/>
          </a:p>
        </p:txBody>
      </p:sp>
      <p:sp>
        <p:nvSpPr>
          <p:cNvPr id="15" name="Shape 13"/>
          <p:cNvSpPr/>
          <p:nvPr/>
        </p:nvSpPr>
        <p:spPr>
          <a:xfrm>
            <a:off x="6995160" y="3520440"/>
            <a:ext cx="4690872" cy="1005840"/>
          </a:xfrm>
          <a:prstGeom prst="roundRect">
            <a:avLst>
              <a:gd name="adj" fmla="val 7273"/>
            </a:avLst>
          </a:prstGeom>
          <a:solidFill>
            <a:srgbClr val="FFFFFF"/>
          </a:solidFill>
          <a:ln w="9525">
            <a:solidFill>
              <a:srgbClr val="DCE3E7"/>
            </a:solidFill>
            <a:prstDash val="solid"/>
          </a:ln>
          <a:effectLst>
            <a:outerShdw blurRad="101600" dist="12700" dir="5400000" algn="bl" rotWithShape="0">
              <a:srgbClr val="203040">
                <a:alpha val="8000"/>
              </a:srgbClr>
            </a:outerShdw>
          </a:effectLst>
        </p:spPr>
        <p:txBody>
          <a:bodyPr/>
          <a:lstStyle/>
          <a:p>
            <a:endParaRPr lang="en-US"/>
          </a:p>
        </p:txBody>
      </p:sp>
      <p:sp>
        <p:nvSpPr>
          <p:cNvPr id="16" name="Text 14"/>
          <p:cNvSpPr/>
          <p:nvPr/>
        </p:nvSpPr>
        <p:spPr>
          <a:xfrm>
            <a:off x="7223760" y="3602736"/>
            <a:ext cx="4297680" cy="219456"/>
          </a:xfrm>
          <a:prstGeom prst="rect">
            <a:avLst/>
          </a:prstGeom>
          <a:noFill/>
          <a:ln/>
        </p:spPr>
        <p:txBody>
          <a:bodyPr wrap="square" lIns="0" tIns="0" rIns="0" bIns="0" rtlCol="0" anchor="ctr"/>
          <a:lstStyle/>
          <a:p>
            <a:pPr marL="0" indent="0">
              <a:buNone/>
            </a:pPr>
            <a:r>
              <a:rPr lang="en-US" sz="1200" b="1" dirty="0">
                <a:solidFill>
                  <a:srgbClr val="12303F"/>
                </a:solidFill>
                <a:latin typeface="Calibri" pitchFamily="34" charset="0"/>
                <a:ea typeface="Calibri" pitchFamily="34" charset="-122"/>
                <a:cs typeface="Calibri" pitchFamily="34" charset="-120"/>
              </a:rPr>
              <a:t>Sections, because of one pole</a:t>
            </a:r>
            <a:endParaRPr lang="en-US" sz="1200" dirty="0"/>
          </a:p>
        </p:txBody>
      </p:sp>
      <p:sp>
        <p:nvSpPr>
          <p:cNvPr id="17" name="Text 15"/>
          <p:cNvSpPr/>
          <p:nvPr/>
        </p:nvSpPr>
        <p:spPr>
          <a:xfrm>
            <a:off x="7223760" y="3858768"/>
            <a:ext cx="4315968" cy="594360"/>
          </a:xfrm>
          <a:prstGeom prst="rect">
            <a:avLst/>
          </a:prstGeom>
          <a:noFill/>
          <a:ln/>
        </p:spPr>
        <p:txBody>
          <a:bodyPr wrap="square" lIns="0" tIns="0" rIns="0" bIns="0" rtlCol="0" anchor="ctr"/>
          <a:lstStyle/>
          <a:p>
            <a:pPr marL="0" indent="0">
              <a:buNone/>
            </a:pPr>
            <a:r>
              <a:rPr lang="en-US" sz="1000" dirty="0">
                <a:solidFill>
                  <a:srgbClr val="6B7C87"/>
                </a:solidFill>
                <a:latin typeface="Calibri" pitchFamily="34" charset="0"/>
                <a:ea typeface="Calibri" pitchFamily="34" charset="-122"/>
                <a:cs typeface="Calibri" pitchFamily="34" charset="-120"/>
              </a:rPr>
              <a:t>R(z) is 3rd order. In a single direct form every coefficient's rounding is shared across all three poles; sections localise it. That matters here: one section carries z = 0.999996 — 4·10⁻⁶ from the unit circle, ~30× float32 eps. It is the W</a:t>
            </a:r>
            <a:r>
              <a:rPr lang="en-US" sz="1000" baseline="-40000" dirty="0">
                <a:solidFill>
                  <a:srgbClr val="6B7C87"/>
                </a:solidFill>
                <a:latin typeface="Calibri" pitchFamily="34" charset="0"/>
                <a:ea typeface="Calibri" pitchFamily="34" charset="-122"/>
                <a:cs typeface="Calibri" pitchFamily="34" charset="-120"/>
              </a:rPr>
              <a:t>p</a:t>
            </a:r>
            <a:r>
              <a:rPr lang="en-US" sz="1000" dirty="0">
                <a:solidFill>
                  <a:srgbClr val="6B7C87"/>
                </a:solidFill>
                <a:latin typeface="Calibri" pitchFamily="34" charset="0"/>
                <a:ea typeface="Calibri" pitchFamily="34" charset="-122"/>
                <a:cs typeface="Calibri" pitchFamily="34" charset="-120"/>
              </a:rPr>
              <a:t> weight pole surviving near-cancellation, and it survives because it owns a section.</a:t>
            </a:r>
            <a:endParaRPr lang="en-US" sz="1000" dirty="0"/>
          </a:p>
        </p:txBody>
      </p:sp>
      <p:sp>
        <p:nvSpPr>
          <p:cNvPr id="18" name="Shape 16"/>
          <p:cNvSpPr/>
          <p:nvPr/>
        </p:nvSpPr>
        <p:spPr>
          <a:xfrm>
            <a:off x="6995160" y="4594860"/>
            <a:ext cx="4690872" cy="914400"/>
          </a:xfrm>
          <a:prstGeom prst="roundRect">
            <a:avLst>
              <a:gd name="adj" fmla="val 8000"/>
            </a:avLst>
          </a:prstGeom>
          <a:solidFill>
            <a:srgbClr val="FFFFFF"/>
          </a:solidFill>
          <a:ln w="9525">
            <a:solidFill>
              <a:srgbClr val="DCE3E7"/>
            </a:solidFill>
            <a:prstDash val="solid"/>
          </a:ln>
          <a:effectLst>
            <a:outerShdw blurRad="101600" dist="12700" dir="5400000" algn="bl" rotWithShape="0">
              <a:srgbClr val="203040">
                <a:alpha val="8000"/>
              </a:srgbClr>
            </a:outerShdw>
          </a:effectLst>
        </p:spPr>
        <p:txBody>
          <a:bodyPr/>
          <a:lstStyle/>
          <a:p>
            <a:endParaRPr lang="en-US"/>
          </a:p>
        </p:txBody>
      </p:sp>
      <p:sp>
        <p:nvSpPr>
          <p:cNvPr id="19" name="Text 17"/>
          <p:cNvSpPr/>
          <p:nvPr/>
        </p:nvSpPr>
        <p:spPr>
          <a:xfrm>
            <a:off x="7223760" y="4677156"/>
            <a:ext cx="4297680" cy="219456"/>
          </a:xfrm>
          <a:prstGeom prst="rect">
            <a:avLst/>
          </a:prstGeom>
          <a:noFill/>
          <a:ln/>
        </p:spPr>
        <p:txBody>
          <a:bodyPr wrap="square" lIns="0" tIns="0" rIns="0" bIns="0" rtlCol="0" anchor="ctr"/>
          <a:lstStyle/>
          <a:p>
            <a:pPr marL="0" indent="0">
              <a:buNone/>
            </a:pPr>
            <a:r>
              <a:rPr lang="en-US" sz="1200" b="1" dirty="0">
                <a:solidFill>
                  <a:srgbClr val="12303F"/>
                </a:solidFill>
                <a:latin typeface="Calibri" pitchFamily="34" charset="0"/>
                <a:ea typeface="Calibri" pitchFamily="34" charset="-122"/>
                <a:cs typeface="Calibri" pitchFamily="34" charset="-120"/>
              </a:rPr>
              <a:t>Transposed, because of that pole too</a:t>
            </a:r>
            <a:endParaRPr lang="en-US" sz="1200" dirty="0"/>
          </a:p>
        </p:txBody>
      </p:sp>
      <p:sp>
        <p:nvSpPr>
          <p:cNvPr id="20" name="Text 18"/>
          <p:cNvSpPr/>
          <p:nvPr/>
        </p:nvSpPr>
        <p:spPr>
          <a:xfrm>
            <a:off x="7223760" y="4933188"/>
            <a:ext cx="4315968" cy="502920"/>
          </a:xfrm>
          <a:prstGeom prst="rect">
            <a:avLst/>
          </a:prstGeom>
          <a:noFill/>
          <a:ln/>
        </p:spPr>
        <p:txBody>
          <a:bodyPr wrap="square" lIns="0" tIns="0" rIns="0" bIns="0" rtlCol="0" anchor="ctr"/>
          <a:lstStyle/>
          <a:p>
            <a:pPr marL="0" indent="0">
              <a:buNone/>
            </a:pPr>
            <a:r>
              <a:rPr lang="en-US" sz="1000" dirty="0">
                <a:solidFill>
                  <a:srgbClr val="6B7C87"/>
                </a:solidFill>
                <a:latin typeface="Calibri" pitchFamily="34" charset="0"/>
                <a:ea typeface="Calibri" pitchFamily="34" charset="-122"/>
                <a:cs typeface="Calibri" pitchFamily="34" charset="-120"/>
              </a:rPr>
              <a:t>In DF2T every state is an accumulator sum, the same order of magnitude as the output; DF-II's intermediate node is what loses precision on a near-unit-circle pole. It is also what scipy's sosfilt does, so the Python reference and the C++ run the same recurrence.</a:t>
            </a:r>
            <a:endParaRPr lang="en-US" sz="1000" dirty="0"/>
          </a:p>
        </p:txBody>
      </p:sp>
      <p:sp>
        <p:nvSpPr>
          <p:cNvPr id="21" name="Shape 19"/>
          <p:cNvSpPr/>
          <p:nvPr/>
        </p:nvSpPr>
        <p:spPr>
          <a:xfrm>
            <a:off x="6995160" y="5577840"/>
            <a:ext cx="4690872" cy="685800"/>
          </a:xfrm>
          <a:prstGeom prst="roundRect">
            <a:avLst>
              <a:gd name="adj" fmla="val 10667"/>
            </a:avLst>
          </a:prstGeom>
          <a:solidFill>
            <a:srgbClr val="FFFFFF"/>
          </a:solidFill>
          <a:ln w="9525">
            <a:solidFill>
              <a:srgbClr val="DCE3E7"/>
            </a:solidFill>
            <a:prstDash val="solid"/>
          </a:ln>
          <a:effectLst>
            <a:outerShdw blurRad="101600" dist="12700" dir="5400000" algn="bl" rotWithShape="0">
              <a:srgbClr val="203040">
                <a:alpha val="8000"/>
              </a:srgbClr>
            </a:outerShdw>
          </a:effectLst>
        </p:spPr>
        <p:txBody>
          <a:bodyPr/>
          <a:lstStyle/>
          <a:p>
            <a:endParaRPr lang="en-US"/>
          </a:p>
        </p:txBody>
      </p:sp>
      <p:sp>
        <p:nvSpPr>
          <p:cNvPr id="22" name="Text 20"/>
          <p:cNvSpPr/>
          <p:nvPr/>
        </p:nvSpPr>
        <p:spPr>
          <a:xfrm>
            <a:off x="7223760" y="5660136"/>
            <a:ext cx="4297680" cy="219456"/>
          </a:xfrm>
          <a:prstGeom prst="rect">
            <a:avLst/>
          </a:prstGeom>
          <a:noFill/>
          <a:ln/>
        </p:spPr>
        <p:txBody>
          <a:bodyPr wrap="square" lIns="0" tIns="0" rIns="0" bIns="0" rtlCol="0" anchor="ctr"/>
          <a:lstStyle/>
          <a:p>
            <a:pPr marL="0" indent="0">
              <a:buNone/>
            </a:pPr>
            <a:r>
              <a:rPr lang="en-US" sz="1200" b="1" dirty="0">
                <a:solidFill>
                  <a:srgbClr val="12303F"/>
                </a:solidFill>
                <a:latin typeface="Calibri" pitchFamily="34" charset="0"/>
                <a:ea typeface="Calibri" pitchFamily="34" charset="-122"/>
                <a:cs typeface="Calibri" pitchFamily="34" charset="-120"/>
              </a:rPr>
              <a:t>Where they meet: the clamp</a:t>
            </a:r>
            <a:endParaRPr lang="en-US" sz="1200" dirty="0"/>
          </a:p>
        </p:txBody>
      </p:sp>
      <p:sp>
        <p:nvSpPr>
          <p:cNvPr id="23" name="Text 21"/>
          <p:cNvSpPr/>
          <p:nvPr/>
        </p:nvSpPr>
        <p:spPr>
          <a:xfrm>
            <a:off x="7223760" y="5916168"/>
            <a:ext cx="4315968" cy="274320"/>
          </a:xfrm>
          <a:prstGeom prst="rect">
            <a:avLst/>
          </a:prstGeom>
          <a:noFill/>
          <a:ln/>
        </p:spPr>
        <p:txBody>
          <a:bodyPr wrap="square" lIns="0" tIns="0" rIns="0" bIns="0" rtlCol="0" anchor="ctr"/>
          <a:lstStyle/>
          <a:p>
            <a:pPr marL="0" indent="0">
              <a:buNone/>
            </a:pPr>
            <a:r>
              <a:rPr lang="en-US" sz="1000" dirty="0">
                <a:solidFill>
                  <a:srgbClr val="6B7C87"/>
                </a:solidFill>
                <a:latin typeface="Calibri" pitchFamily="34" charset="0"/>
                <a:ea typeface="Calibri" pitchFamily="34" charset="-122"/>
                <a:cs typeface="Calibri" pitchFamily="34" charset="-120"/>
              </a:rPr>
              <a:t>R(z) is stable and cannot wind up, so back-calculation touches the integrator only — it absorbs the clamp excess, and r leaves the rail the tick after the error reverses.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303F"/>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marL="0" indent="0">
              <a:buNone/>
            </a:pPr>
            <a:r>
              <a:rPr lang="en-US" sz="1200" b="1" kern="0" spc="160" dirty="0">
                <a:solidFill>
                  <a:srgbClr val="E08A1E"/>
                </a:solidFill>
                <a:latin typeface="Calibri" pitchFamily="34" charset="0"/>
                <a:ea typeface="Calibri" pitchFamily="34" charset="-122"/>
                <a:cs typeface="Calibri" pitchFamily="34" charset="-120"/>
              </a:rPr>
              <a:t>WHY BOTHER WITH THE CORRECTION</a:t>
            </a:r>
            <a:endParaRPr lang="en-US" sz="1200" dirty="0"/>
          </a:p>
        </p:txBody>
      </p:sp>
      <p:sp>
        <p:nvSpPr>
          <p:cNvPr id="3" name="Text 1"/>
          <p:cNvSpPr/>
          <p:nvPr/>
        </p:nvSpPr>
        <p:spPr>
          <a:xfrm>
            <a:off x="502920" y="566928"/>
            <a:ext cx="11155680" cy="566928"/>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The same γ, but only one of them is implementable cheaply</a:t>
            </a:r>
            <a:endParaRPr lang="en-US" sz="3200" dirty="0"/>
          </a:p>
        </p:txBody>
      </p:sp>
      <p:sp>
        <p:nvSpPr>
          <p:cNvPr id="4" name="Text 2"/>
          <p:cNvSpPr/>
          <p:nvPr/>
        </p:nvSpPr>
        <p:spPr>
          <a:xfrm>
            <a:off x="3977640" y="1115568"/>
            <a:ext cx="3200400" cy="219456"/>
          </a:xfrm>
          <a:prstGeom prst="rect">
            <a:avLst/>
          </a:prstGeom>
          <a:noFill/>
          <a:ln/>
        </p:spPr>
        <p:txBody>
          <a:bodyPr wrap="square" lIns="0" tIns="0" rIns="0" bIns="0" rtlCol="0" anchor="ctr"/>
          <a:lstStyle/>
          <a:p>
            <a:pPr marL="0" indent="0">
              <a:buNone/>
            </a:pPr>
            <a:r>
              <a:rPr lang="en-US" sz="1150" b="1" dirty="0">
                <a:solidFill>
                  <a:srgbClr val="E08A1E"/>
                </a:solidFill>
                <a:latin typeface="Calibri" pitchFamily="34" charset="0"/>
                <a:ea typeface="Calibri" pitchFamily="34" charset="-122"/>
                <a:cs typeface="Calibri" pitchFamily="34" charset="-120"/>
              </a:rPr>
              <a:t>Youla-H (shipped)</a:t>
            </a:r>
            <a:endParaRPr lang="en-US" sz="1150" dirty="0"/>
          </a:p>
        </p:txBody>
      </p:sp>
      <p:sp>
        <p:nvSpPr>
          <p:cNvPr id="5" name="Text 3"/>
          <p:cNvSpPr/>
          <p:nvPr/>
        </p:nvSpPr>
        <p:spPr>
          <a:xfrm>
            <a:off x="7360920" y="1115568"/>
            <a:ext cx="4114800" cy="219456"/>
          </a:xfrm>
          <a:prstGeom prst="rect">
            <a:avLst/>
          </a:prstGeom>
          <a:noFill/>
          <a:ln/>
        </p:spPr>
        <p:txBody>
          <a:bodyPr wrap="square" lIns="0" tIns="0" rIns="0" bIns="0" rtlCol="0" anchor="ctr"/>
          <a:lstStyle/>
          <a:p>
            <a:pPr marL="0" indent="0">
              <a:buNone/>
            </a:pPr>
            <a:r>
              <a:rPr lang="en-US" sz="1150" b="1" dirty="0">
                <a:solidFill>
                  <a:srgbClr val="9FC3D4"/>
                </a:solidFill>
                <a:latin typeface="Calibri" pitchFamily="34" charset="0"/>
                <a:ea typeface="Calibri" pitchFamily="34" charset="-122"/>
                <a:cs typeface="Calibri" pitchFamily="34" charset="-120"/>
              </a:rPr>
              <a:t>Uncorrected H∞</a:t>
            </a:r>
            <a:endParaRPr lang="en-US" sz="1150" dirty="0"/>
          </a:p>
        </p:txBody>
      </p:sp>
      <p:sp>
        <p:nvSpPr>
          <p:cNvPr id="6" name="Shape 4"/>
          <p:cNvSpPr/>
          <p:nvPr/>
        </p:nvSpPr>
        <p:spPr>
          <a:xfrm>
            <a:off x="502920" y="1371600"/>
            <a:ext cx="11183112" cy="457200"/>
          </a:xfrm>
          <a:prstGeom prst="roundRect">
            <a:avLst>
              <a:gd name="adj" fmla="val 10000"/>
            </a:avLst>
          </a:prstGeom>
          <a:solidFill>
            <a:srgbClr val="1B3F51"/>
          </a:solidFill>
          <a:ln w="9525">
            <a:solidFill>
              <a:srgbClr val="2E5A6E"/>
            </a:solidFill>
            <a:prstDash val="solid"/>
          </a:ln>
        </p:spPr>
        <p:txBody>
          <a:bodyPr/>
          <a:lstStyle/>
          <a:p>
            <a:endParaRPr lang="en-US"/>
          </a:p>
        </p:txBody>
      </p:sp>
      <p:sp>
        <p:nvSpPr>
          <p:cNvPr id="7" name="Text 5"/>
          <p:cNvSpPr/>
          <p:nvPr/>
        </p:nvSpPr>
        <p:spPr>
          <a:xfrm>
            <a:off x="685800" y="1490472"/>
            <a:ext cx="3200400" cy="23774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Pole at the origin</a:t>
            </a:r>
            <a:endParaRPr lang="en-US" sz="1150" dirty="0"/>
          </a:p>
        </p:txBody>
      </p:sp>
      <p:sp>
        <p:nvSpPr>
          <p:cNvPr id="8" name="Text 6"/>
          <p:cNvSpPr/>
          <p:nvPr/>
        </p:nvSpPr>
        <p:spPr>
          <a:xfrm>
            <a:off x="3977640" y="1499616"/>
            <a:ext cx="3291840" cy="237744"/>
          </a:xfrm>
          <a:prstGeom prst="rect">
            <a:avLst/>
          </a:prstGeom>
          <a:noFill/>
          <a:ln/>
        </p:spPr>
        <p:txBody>
          <a:bodyPr wrap="square" lIns="0" tIns="0" rIns="0" bIns="0" rtlCol="0" anchor="ctr"/>
          <a:lstStyle/>
          <a:p>
            <a:pPr marL="0" indent="0">
              <a:buNone/>
            </a:pPr>
            <a:r>
              <a:rPr lang="en-US" sz="1100" dirty="0">
                <a:solidFill>
                  <a:srgbClr val="E08A1E"/>
                </a:solidFill>
                <a:latin typeface="Calibri" pitchFamily="34" charset="0"/>
                <a:ea typeface="Calibri" pitchFamily="34" charset="-122"/>
                <a:cs typeface="Calibri" pitchFamily="34" charset="-120"/>
              </a:rPr>
              <a:t>yes — 5.6·10⁻⁹, planted by the gain step</a:t>
            </a:r>
            <a:endParaRPr lang="en-US" sz="1100" dirty="0"/>
          </a:p>
        </p:txBody>
      </p:sp>
      <p:sp>
        <p:nvSpPr>
          <p:cNvPr id="9" name="Text 7"/>
          <p:cNvSpPr/>
          <p:nvPr/>
        </p:nvSpPr>
        <p:spPr>
          <a:xfrm>
            <a:off x="7360920" y="1499616"/>
            <a:ext cx="4206240" cy="237744"/>
          </a:xfrm>
          <a:prstGeom prst="rect">
            <a:avLst/>
          </a:prstGeom>
          <a:noFill/>
          <a:ln/>
        </p:spPr>
        <p:txBody>
          <a:bodyPr wrap="square" lIns="0" tIns="0" rIns="0" bIns="0" rtlCol="0" anchor="ctr"/>
          <a:lstStyle/>
          <a:p>
            <a:pPr marL="0" indent="0">
              <a:buNone/>
            </a:pPr>
            <a:r>
              <a:rPr lang="en-US" sz="1100" dirty="0">
                <a:solidFill>
                  <a:srgbClr val="AFC4CF"/>
                </a:solidFill>
                <a:latin typeface="Calibri" pitchFamily="34" charset="0"/>
                <a:ea typeface="Calibri" pitchFamily="34" charset="-122"/>
                <a:cs typeface="Calibri" pitchFamily="34" charset="-120"/>
              </a:rPr>
              <a:t>none. Slowest pole −4·10⁻³ (τ = 250 s)</a:t>
            </a:r>
            <a:endParaRPr lang="en-US" sz="1100" dirty="0"/>
          </a:p>
        </p:txBody>
      </p:sp>
      <p:sp>
        <p:nvSpPr>
          <p:cNvPr id="10" name="Shape 8"/>
          <p:cNvSpPr/>
          <p:nvPr/>
        </p:nvSpPr>
        <p:spPr>
          <a:xfrm>
            <a:off x="502920" y="1847088"/>
            <a:ext cx="11183112" cy="457200"/>
          </a:xfrm>
          <a:prstGeom prst="roundRect">
            <a:avLst>
              <a:gd name="adj" fmla="val 10000"/>
            </a:avLst>
          </a:prstGeom>
          <a:solidFill>
            <a:srgbClr val="1B3F51"/>
          </a:solidFill>
          <a:ln w="9525">
            <a:solidFill>
              <a:srgbClr val="2E5A6E"/>
            </a:solidFill>
            <a:prstDash val="solid"/>
          </a:ln>
        </p:spPr>
        <p:txBody>
          <a:bodyPr/>
          <a:lstStyle/>
          <a:p>
            <a:endParaRPr lang="en-US"/>
          </a:p>
        </p:txBody>
      </p:sp>
      <p:sp>
        <p:nvSpPr>
          <p:cNvPr id="11" name="Text 9"/>
          <p:cNvSpPr/>
          <p:nvPr/>
        </p:nvSpPr>
        <p:spPr>
          <a:xfrm>
            <a:off x="685800" y="1965960"/>
            <a:ext cx="3200400" cy="23774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Integrator split</a:t>
            </a:r>
            <a:endParaRPr lang="en-US" sz="1150" dirty="0"/>
          </a:p>
        </p:txBody>
      </p:sp>
      <p:sp>
        <p:nvSpPr>
          <p:cNvPr id="12" name="Text 10"/>
          <p:cNvSpPr/>
          <p:nvPr/>
        </p:nvSpPr>
        <p:spPr>
          <a:xfrm>
            <a:off x="3977640" y="1975104"/>
            <a:ext cx="3291840" cy="237744"/>
          </a:xfrm>
          <a:prstGeom prst="rect">
            <a:avLst/>
          </a:prstGeom>
          <a:noFill/>
          <a:ln/>
        </p:spPr>
        <p:txBody>
          <a:bodyPr wrap="square" lIns="0" tIns="0" rIns="0" bIns="0" rtlCol="0" anchor="ctr"/>
          <a:lstStyle/>
          <a:p>
            <a:pPr marL="0" indent="0">
              <a:buNone/>
            </a:pPr>
            <a:r>
              <a:rPr lang="en-US" sz="1100" dirty="0">
                <a:solidFill>
                  <a:srgbClr val="E08A1E"/>
                </a:solidFill>
                <a:latin typeface="Calibri" pitchFamily="34" charset="0"/>
                <a:ea typeface="Calibri" pitchFamily="34" charset="-122"/>
                <a:cs typeface="Calibri" pitchFamily="34" charset="-120"/>
              </a:rPr>
              <a:t>k</a:t>
            </a:r>
            <a:r>
              <a:rPr lang="en-US" sz="1100" baseline="-40000" dirty="0">
                <a:solidFill>
                  <a:srgbClr val="E08A1E"/>
                </a:solidFill>
                <a:latin typeface="Calibri" pitchFamily="34" charset="0"/>
                <a:ea typeface="Calibri" pitchFamily="34" charset="-122"/>
                <a:cs typeface="Calibri" pitchFamily="34" charset="-120"/>
              </a:rPr>
              <a:t>I</a:t>
            </a:r>
            <a:r>
              <a:rPr lang="en-US" sz="1100" dirty="0">
                <a:solidFill>
                  <a:srgbClr val="E08A1E"/>
                </a:solidFill>
                <a:latin typeface="Calibri" pitchFamily="34" charset="0"/>
                <a:ea typeface="Calibri" pitchFamily="34" charset="-122"/>
                <a:cs typeface="Calibri" pitchFamily="34" charset="-120"/>
              </a:rPr>
              <a:t> = 111.9 + stable remainder</a:t>
            </a:r>
            <a:endParaRPr lang="en-US" sz="1100" dirty="0"/>
          </a:p>
        </p:txBody>
      </p:sp>
      <p:sp>
        <p:nvSpPr>
          <p:cNvPr id="13" name="Text 11"/>
          <p:cNvSpPr/>
          <p:nvPr/>
        </p:nvSpPr>
        <p:spPr>
          <a:xfrm>
            <a:off x="7360920" y="1975104"/>
            <a:ext cx="4206240" cy="237744"/>
          </a:xfrm>
          <a:prstGeom prst="rect">
            <a:avLst/>
          </a:prstGeom>
          <a:noFill/>
          <a:ln/>
        </p:spPr>
        <p:txBody>
          <a:bodyPr wrap="square" lIns="0" tIns="0" rIns="0" bIns="0" rtlCol="0" anchor="ctr"/>
          <a:lstStyle/>
          <a:p>
            <a:pPr marL="0" indent="0">
              <a:buNone/>
            </a:pPr>
            <a:r>
              <a:rPr lang="en-US" sz="1100" dirty="0">
                <a:solidFill>
                  <a:srgbClr val="AFC4CF"/>
                </a:solidFill>
                <a:latin typeface="Calibri" pitchFamily="34" charset="0"/>
                <a:ea typeface="Calibri" pitchFamily="34" charset="-122"/>
                <a:cs typeface="Calibri" pitchFamily="34" charset="-120"/>
              </a:rPr>
              <a:t>asserts: no near-origin pole found</a:t>
            </a:r>
            <a:endParaRPr lang="en-US" sz="1100" dirty="0"/>
          </a:p>
        </p:txBody>
      </p:sp>
      <p:sp>
        <p:nvSpPr>
          <p:cNvPr id="14" name="Shape 12"/>
          <p:cNvSpPr/>
          <p:nvPr/>
        </p:nvSpPr>
        <p:spPr>
          <a:xfrm>
            <a:off x="502920" y="2322576"/>
            <a:ext cx="11183112" cy="457200"/>
          </a:xfrm>
          <a:prstGeom prst="roundRect">
            <a:avLst>
              <a:gd name="adj" fmla="val 10000"/>
            </a:avLst>
          </a:prstGeom>
          <a:solidFill>
            <a:srgbClr val="1B3F51"/>
          </a:solidFill>
          <a:ln w="9525">
            <a:solidFill>
              <a:srgbClr val="2E5A6E"/>
            </a:solidFill>
            <a:prstDash val="solid"/>
          </a:ln>
        </p:spPr>
        <p:txBody>
          <a:bodyPr/>
          <a:lstStyle/>
          <a:p>
            <a:endParaRPr lang="en-US"/>
          </a:p>
        </p:txBody>
      </p:sp>
      <p:sp>
        <p:nvSpPr>
          <p:cNvPr id="15" name="Text 13"/>
          <p:cNvSpPr/>
          <p:nvPr/>
        </p:nvSpPr>
        <p:spPr>
          <a:xfrm>
            <a:off x="685800" y="2441448"/>
            <a:ext cx="3200400" cy="23774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Ships as</a:t>
            </a:r>
            <a:endParaRPr lang="en-US" sz="1150" dirty="0"/>
          </a:p>
        </p:txBody>
      </p:sp>
      <p:sp>
        <p:nvSpPr>
          <p:cNvPr id="16" name="Text 14"/>
          <p:cNvSpPr/>
          <p:nvPr/>
        </p:nvSpPr>
        <p:spPr>
          <a:xfrm>
            <a:off x="3977640" y="2450592"/>
            <a:ext cx="3291840" cy="237744"/>
          </a:xfrm>
          <a:prstGeom prst="rect">
            <a:avLst/>
          </a:prstGeom>
          <a:noFill/>
          <a:ln/>
        </p:spPr>
        <p:txBody>
          <a:bodyPr wrap="square" lIns="0" tIns="0" rIns="0" bIns="0" rtlCol="0" anchor="ctr"/>
          <a:lstStyle/>
          <a:p>
            <a:pPr marL="0" indent="0">
              <a:buNone/>
            </a:pPr>
            <a:r>
              <a:rPr lang="en-US" sz="1100" dirty="0">
                <a:solidFill>
                  <a:srgbClr val="E08A1E"/>
                </a:solidFill>
                <a:latin typeface="Calibri" pitchFamily="34" charset="0"/>
                <a:ea typeface="Calibri" pitchFamily="34" charset="-122"/>
                <a:cs typeface="Calibri" pitchFamily="34" charset="-120"/>
              </a:rPr>
              <a:t>integrator + 3 sections, 4 states</a:t>
            </a:r>
            <a:endParaRPr lang="en-US" sz="1100" dirty="0"/>
          </a:p>
        </p:txBody>
      </p:sp>
      <p:sp>
        <p:nvSpPr>
          <p:cNvPr id="17" name="Text 15"/>
          <p:cNvSpPr/>
          <p:nvPr/>
        </p:nvSpPr>
        <p:spPr>
          <a:xfrm>
            <a:off x="7360920" y="2450592"/>
            <a:ext cx="4206240" cy="237744"/>
          </a:xfrm>
          <a:prstGeom prst="rect">
            <a:avLst/>
          </a:prstGeom>
          <a:noFill/>
          <a:ln/>
        </p:spPr>
        <p:txBody>
          <a:bodyPr wrap="square" lIns="0" tIns="0" rIns="0" bIns="0" rtlCol="0" anchor="ctr"/>
          <a:lstStyle/>
          <a:p>
            <a:pPr marL="0" indent="0">
              <a:buNone/>
            </a:pPr>
            <a:r>
              <a:rPr lang="en-US" sz="1100" dirty="0">
                <a:solidFill>
                  <a:srgbClr val="AFC4CF"/>
                </a:solidFill>
                <a:latin typeface="Calibri" pitchFamily="34" charset="0"/>
                <a:ea typeface="Calibri" pitchFamily="34" charset="-122"/>
                <a:cs typeface="Calibri" pitchFamily="34" charset="-120"/>
              </a:rPr>
              <a:t>7th order → 6 sections; truncates to 3–4 at ~0.8 % — a wash</a:t>
            </a:r>
            <a:endParaRPr lang="en-US" sz="1100" dirty="0"/>
          </a:p>
        </p:txBody>
      </p:sp>
      <p:sp>
        <p:nvSpPr>
          <p:cNvPr id="18" name="Shape 16"/>
          <p:cNvSpPr/>
          <p:nvPr/>
        </p:nvSpPr>
        <p:spPr>
          <a:xfrm>
            <a:off x="502920" y="2798064"/>
            <a:ext cx="11183112" cy="457200"/>
          </a:xfrm>
          <a:prstGeom prst="roundRect">
            <a:avLst>
              <a:gd name="adj" fmla="val 10000"/>
            </a:avLst>
          </a:prstGeom>
          <a:solidFill>
            <a:srgbClr val="1B3F51"/>
          </a:solidFill>
          <a:ln w="9525">
            <a:solidFill>
              <a:srgbClr val="2E5A6E"/>
            </a:solidFill>
            <a:prstDash val="solid"/>
          </a:ln>
        </p:spPr>
        <p:txBody>
          <a:bodyPr/>
          <a:lstStyle/>
          <a:p>
            <a:endParaRPr lang="en-US"/>
          </a:p>
        </p:txBody>
      </p:sp>
      <p:sp>
        <p:nvSpPr>
          <p:cNvPr id="19" name="Text 17"/>
          <p:cNvSpPr/>
          <p:nvPr/>
        </p:nvSpPr>
        <p:spPr>
          <a:xfrm>
            <a:off x="685800" y="2916936"/>
            <a:ext cx="3200400" cy="23774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Anti-windup</a:t>
            </a:r>
            <a:endParaRPr lang="en-US" sz="1150" dirty="0"/>
          </a:p>
        </p:txBody>
      </p:sp>
      <p:sp>
        <p:nvSpPr>
          <p:cNvPr id="20" name="Text 18"/>
          <p:cNvSpPr/>
          <p:nvPr/>
        </p:nvSpPr>
        <p:spPr>
          <a:xfrm>
            <a:off x="3977640" y="2926080"/>
            <a:ext cx="3291840" cy="237744"/>
          </a:xfrm>
          <a:prstGeom prst="rect">
            <a:avLst/>
          </a:prstGeom>
          <a:noFill/>
          <a:ln/>
        </p:spPr>
        <p:txBody>
          <a:bodyPr wrap="square" lIns="0" tIns="0" rIns="0" bIns="0" rtlCol="0" anchor="ctr"/>
          <a:lstStyle/>
          <a:p>
            <a:pPr marL="0" indent="0">
              <a:buNone/>
            </a:pPr>
            <a:r>
              <a:rPr lang="en-US" sz="1100" dirty="0">
                <a:solidFill>
                  <a:srgbClr val="E08A1E"/>
                </a:solidFill>
                <a:latin typeface="Calibri" pitchFamily="34" charset="0"/>
                <a:ea typeface="Calibri" pitchFamily="34" charset="-122"/>
                <a:cs typeface="Calibri" pitchFamily="34" charset="-120"/>
              </a:rPr>
              <a:t>back-calculation on one state: 2 lines</a:t>
            </a:r>
            <a:endParaRPr lang="en-US" sz="1100" dirty="0"/>
          </a:p>
        </p:txBody>
      </p:sp>
      <p:sp>
        <p:nvSpPr>
          <p:cNvPr id="21" name="Text 19"/>
          <p:cNvSpPr/>
          <p:nvPr/>
        </p:nvSpPr>
        <p:spPr>
          <a:xfrm>
            <a:off x="7360920" y="2926080"/>
            <a:ext cx="4206240" cy="237744"/>
          </a:xfrm>
          <a:prstGeom prst="rect">
            <a:avLst/>
          </a:prstGeom>
          <a:noFill/>
          <a:ln/>
        </p:spPr>
        <p:txBody>
          <a:bodyPr wrap="square" lIns="0" tIns="0" rIns="0" bIns="0" rtlCol="0" anchor="ctr"/>
          <a:lstStyle/>
          <a:p>
            <a:pPr marL="0" indent="0">
              <a:buNone/>
            </a:pPr>
            <a:r>
              <a:rPr lang="en-US" sz="1100" dirty="0">
                <a:solidFill>
                  <a:srgbClr val="AFC4CF"/>
                </a:solidFill>
                <a:latin typeface="Calibri" pitchFamily="34" charset="0"/>
                <a:ea typeface="Calibri" pitchFamily="34" charset="-122"/>
                <a:cs typeface="Calibri" pitchFamily="34" charset="-120"/>
              </a:rPr>
              <a:t>no integrator state to unwind. Naive clamp, or add conditioning / observer-form AW</a:t>
            </a:r>
            <a:endParaRPr lang="en-US" sz="1100" dirty="0"/>
          </a:p>
        </p:txBody>
      </p:sp>
      <p:sp>
        <p:nvSpPr>
          <p:cNvPr id="22" name="Shape 20"/>
          <p:cNvSpPr/>
          <p:nvPr/>
        </p:nvSpPr>
        <p:spPr>
          <a:xfrm>
            <a:off x="502920" y="3273552"/>
            <a:ext cx="11183112" cy="457200"/>
          </a:xfrm>
          <a:prstGeom prst="roundRect">
            <a:avLst>
              <a:gd name="adj" fmla="val 10000"/>
            </a:avLst>
          </a:prstGeom>
          <a:solidFill>
            <a:srgbClr val="1B3F51"/>
          </a:solidFill>
          <a:ln w="9525">
            <a:solidFill>
              <a:srgbClr val="2E5A6E"/>
            </a:solidFill>
            <a:prstDash val="solid"/>
          </a:ln>
        </p:spPr>
        <p:txBody>
          <a:bodyPr/>
          <a:lstStyle/>
          <a:p>
            <a:endParaRPr lang="en-US"/>
          </a:p>
        </p:txBody>
      </p:sp>
      <p:sp>
        <p:nvSpPr>
          <p:cNvPr id="23" name="Text 21"/>
          <p:cNvSpPr/>
          <p:nvPr/>
        </p:nvSpPr>
        <p:spPr>
          <a:xfrm>
            <a:off x="685800" y="3392424"/>
            <a:ext cx="3200400" cy="237744"/>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T(0)</a:t>
            </a:r>
            <a:endParaRPr lang="en-US" sz="1150" dirty="0"/>
          </a:p>
        </p:txBody>
      </p:sp>
      <p:sp>
        <p:nvSpPr>
          <p:cNvPr id="24" name="Text 22"/>
          <p:cNvSpPr/>
          <p:nvPr/>
        </p:nvSpPr>
        <p:spPr>
          <a:xfrm>
            <a:off x="3977640" y="3401568"/>
            <a:ext cx="3291840" cy="237744"/>
          </a:xfrm>
          <a:prstGeom prst="rect">
            <a:avLst/>
          </a:prstGeom>
          <a:noFill/>
          <a:ln/>
        </p:spPr>
        <p:txBody>
          <a:bodyPr wrap="square" lIns="0" tIns="0" rIns="0" bIns="0" rtlCol="0" anchor="ctr"/>
          <a:lstStyle/>
          <a:p>
            <a:pPr marL="0" indent="0">
              <a:buNone/>
            </a:pPr>
            <a:r>
              <a:rPr lang="en-US" sz="1100" dirty="0">
                <a:solidFill>
                  <a:srgbClr val="E08A1E"/>
                </a:solidFill>
                <a:latin typeface="Calibri" pitchFamily="34" charset="0"/>
                <a:ea typeface="Calibri" pitchFamily="34" charset="-122"/>
                <a:cs typeface="Calibri" pitchFamily="34" charset="-120"/>
              </a:rPr>
              <a:t>1, exactly</a:t>
            </a:r>
            <a:endParaRPr lang="en-US" sz="1100" dirty="0"/>
          </a:p>
        </p:txBody>
      </p:sp>
      <p:sp>
        <p:nvSpPr>
          <p:cNvPr id="25" name="Text 23"/>
          <p:cNvSpPr/>
          <p:nvPr/>
        </p:nvSpPr>
        <p:spPr>
          <a:xfrm>
            <a:off x="7360920" y="3401568"/>
            <a:ext cx="4206240" cy="237744"/>
          </a:xfrm>
          <a:prstGeom prst="rect">
            <a:avLst/>
          </a:prstGeom>
          <a:noFill/>
          <a:ln/>
        </p:spPr>
        <p:txBody>
          <a:bodyPr wrap="square" lIns="0" tIns="0" rIns="0" bIns="0" rtlCol="0" anchor="ctr"/>
          <a:lstStyle/>
          <a:p>
            <a:pPr marL="0" indent="0">
              <a:buNone/>
            </a:pPr>
            <a:r>
              <a:rPr lang="en-US" sz="1100" dirty="0">
                <a:solidFill>
                  <a:srgbClr val="AFC4CF"/>
                </a:solidFill>
                <a:latin typeface="Calibri" pitchFamily="34" charset="0"/>
                <a:ea typeface="Calibri" pitchFamily="34" charset="-122"/>
                <a:cs typeface="Calibri" pitchFamily="34" charset="-120"/>
              </a:rPr>
              <a:t>0.99996</a:t>
            </a:r>
            <a:endParaRPr lang="en-US" sz="1100" dirty="0"/>
          </a:p>
        </p:txBody>
      </p:sp>
      <p:sp>
        <p:nvSpPr>
          <p:cNvPr id="26" name="Text 24"/>
          <p:cNvSpPr/>
          <p:nvPr/>
        </p:nvSpPr>
        <p:spPr>
          <a:xfrm>
            <a:off x="502920" y="3931920"/>
            <a:ext cx="6309360" cy="256032"/>
          </a:xfrm>
          <a:prstGeom prst="rect">
            <a:avLst/>
          </a:prstGeom>
          <a:noFill/>
          <a:ln/>
        </p:spPr>
        <p:txBody>
          <a:bodyPr wrap="square" lIns="0" tIns="0" rIns="0" bIns="0" rtlCol="0" anchor="ctr"/>
          <a:lstStyle/>
          <a:p>
            <a:pPr marL="0" indent="0">
              <a:buNone/>
            </a:pPr>
            <a:r>
              <a:rPr lang="en-US" sz="1400" b="1" dirty="0">
                <a:solidFill>
                  <a:srgbClr val="E08A1E"/>
                </a:solidFill>
                <a:latin typeface="Calibri" pitchFamily="34" charset="0"/>
                <a:ea typeface="Calibri" pitchFamily="34" charset="-122"/>
                <a:cs typeface="Calibri" pitchFamily="34" charset="-120"/>
              </a:rPr>
              <a:t>The cost lands on windup</a:t>
            </a:r>
            <a:endParaRPr lang="en-US" sz="1400" dirty="0"/>
          </a:p>
        </p:txBody>
      </p:sp>
      <p:sp>
        <p:nvSpPr>
          <p:cNvPr id="27" name="Text 25"/>
          <p:cNvSpPr/>
          <p:nvPr/>
        </p:nvSpPr>
        <p:spPr>
          <a:xfrm>
            <a:off x="502920" y="4224528"/>
            <a:ext cx="6309360" cy="274320"/>
          </a:xfrm>
          <a:prstGeom prst="rect">
            <a:avLst/>
          </a:prstGeom>
          <a:noFill/>
          <a:ln/>
        </p:spPr>
        <p:txBody>
          <a:bodyPr wrap="square" lIns="0" tIns="0" rIns="0" bIns="0" rtlCol="0" anchor="ctr"/>
          <a:lstStyle/>
          <a:p>
            <a:pPr marL="0" indent="0">
              <a:buNone/>
            </a:pPr>
            <a:r>
              <a:rPr lang="en-US" sz="1150" dirty="0">
                <a:solidFill>
                  <a:srgbClr val="AFC4CF"/>
                </a:solidFill>
                <a:latin typeface="Calibri" pitchFamily="34" charset="0"/>
                <a:ea typeface="Calibri" pitchFamily="34" charset="-122"/>
                <a:cs typeface="Calibri" pitchFamily="34" charset="-120"/>
              </a:rPr>
              <a:t>r is clamped to [0.15, 0.85], so saturation is routine, not an edge case. Hold the reference against the rail, then release:</a:t>
            </a:r>
            <a:endParaRPr lang="en-US" sz="1150" dirty="0"/>
          </a:p>
        </p:txBody>
      </p:sp>
      <p:sp>
        <p:nvSpPr>
          <p:cNvPr id="28" name="Text 26"/>
          <p:cNvSpPr/>
          <p:nvPr/>
        </p:nvSpPr>
        <p:spPr>
          <a:xfrm>
            <a:off x="502920" y="4590288"/>
            <a:ext cx="6309360" cy="658368"/>
          </a:xfrm>
          <a:prstGeom prst="rect">
            <a:avLst/>
          </a:prstGeom>
          <a:noFill/>
          <a:ln/>
        </p:spPr>
        <p:txBody>
          <a:bodyPr wrap="square" lIns="0" tIns="0" rIns="0" bIns="0" rtlCol="0" anchor="ctr"/>
          <a:lstStyle/>
          <a:p>
            <a:pPr marL="0" indent="0">
              <a:buNone/>
            </a:pPr>
            <a:r>
              <a:rPr lang="en-US" sz="1100" b="1" dirty="0">
                <a:solidFill>
                  <a:srgbClr val="E08A1E"/>
                </a:solidFill>
                <a:latin typeface="Calibri" pitchFamily="34" charset="0"/>
                <a:ea typeface="Calibri" pitchFamily="34" charset="-122"/>
                <a:cs typeface="Calibri" pitchFamily="34" charset="-120"/>
              </a:rPr>
              <a:t>Youla-H:  </a:t>
            </a:r>
            <a:r>
              <a:rPr lang="en-US" sz="1100" dirty="0">
                <a:solidFill>
                  <a:srgbClr val="AFC4CF"/>
                </a:solidFill>
                <a:latin typeface="Calibri" pitchFamily="34" charset="0"/>
                <a:ea typeface="Calibri" pitchFamily="34" charset="-122"/>
                <a:cs typeface="Calibri" pitchFamily="34" charset="-120"/>
              </a:rPr>
              <a:t>the integrator absorbs the clamp excess. r leaves the rail in one tick and recovers in 18 ms — and that number does not move, however long it sat there.</a:t>
            </a:r>
            <a:endParaRPr lang="en-US" sz="1100" dirty="0"/>
          </a:p>
        </p:txBody>
      </p:sp>
      <p:sp>
        <p:nvSpPr>
          <p:cNvPr id="29" name="Text 27"/>
          <p:cNvSpPr/>
          <p:nvPr/>
        </p:nvSpPr>
        <p:spPr>
          <a:xfrm>
            <a:off x="502920" y="5340096"/>
            <a:ext cx="6309360" cy="658368"/>
          </a:xfrm>
          <a:prstGeom prst="rect">
            <a:avLst/>
          </a:prstGeom>
          <a:noFill/>
          <a:ln/>
        </p:spPr>
        <p:txBody>
          <a:bodyPr wrap="square" lIns="0" tIns="0" rIns="0" bIns="0" rtlCol="0" anchor="ctr"/>
          <a:lstStyle/>
          <a:p>
            <a:pPr marL="0" indent="0">
              <a:buNone/>
            </a:pPr>
            <a:r>
              <a:rPr lang="en-US" sz="1100" b="1" dirty="0">
                <a:solidFill>
                  <a:srgbClr val="9FC3D4"/>
                </a:solidFill>
                <a:latin typeface="Calibri" pitchFamily="34" charset="0"/>
                <a:ea typeface="Calibri" pitchFamily="34" charset="-122"/>
                <a:cs typeface="Calibri" pitchFamily="34" charset="-120"/>
              </a:rPr>
              <a:t>Uncorrected H∞:  </a:t>
            </a:r>
            <a:r>
              <a:rPr lang="en-US" sz="1100" dirty="0">
                <a:solidFill>
                  <a:srgbClr val="AFC4CF"/>
                </a:solidFill>
                <a:latin typeface="Calibri" pitchFamily="34" charset="0"/>
                <a:ea typeface="Calibri" pitchFamily="34" charset="-122"/>
                <a:cs typeface="Calibri" pitchFamily="34" charset="-120"/>
              </a:rPr>
              <a:t>the DC action is a 250 s mode buried in the cascade. A naive clamp lets it charge, so recovery scales with the abuse — 0.5 s on the rail → 0.2 s, 10 s → 3.6 s, 60 s → 19 s.</a:t>
            </a:r>
            <a:endParaRPr lang="en-US" sz="1100" dirty="0"/>
          </a:p>
        </p:txBody>
      </p:sp>
      <p:pic>
        <p:nvPicPr>
          <p:cNvPr id="30" name="Image 0" descr="C:\Users\ricky\AppData\Local\Temp\claude\C--Life-Ops-School-Thesis-DC-Balancer-Board-Teensy\aa67aa49-50cd-4b2e-b61e-1c0131c86be2\scratchpad\f_aw_scaling.png"/>
          <p:cNvPicPr>
            <a:picLocks noChangeAspect="1"/>
          </p:cNvPicPr>
          <p:nvPr/>
        </p:nvPicPr>
        <p:blipFill>
          <a:blip r:embed="rId3"/>
          <a:stretch>
            <a:fillRect/>
          </a:stretch>
        </p:blipFill>
        <p:spPr>
          <a:xfrm>
            <a:off x="7086600" y="3931920"/>
            <a:ext cx="4599432" cy="2395728"/>
          </a:xfrm>
          <a:prstGeom prst="rect">
            <a:avLst/>
          </a:prstGeom>
        </p:spPr>
      </p:pic>
      <p:sp>
        <p:nvSpPr>
          <p:cNvPr id="31" name="Text 28"/>
          <p:cNvSpPr/>
          <p:nvPr/>
        </p:nvSpPr>
        <p:spPr>
          <a:xfrm>
            <a:off x="502920" y="6355080"/>
            <a:ext cx="11183112" cy="237744"/>
          </a:xfrm>
          <a:prstGeom prst="rect">
            <a:avLst/>
          </a:prstGeom>
          <a:noFill/>
          <a:ln/>
        </p:spPr>
        <p:txBody>
          <a:bodyPr wrap="square" lIns="0" tIns="0" rIns="0" bIns="0" rtlCol="0" anchor="ctr"/>
          <a:lstStyle/>
          <a:p>
            <a:pPr marL="0" indent="0">
              <a:buNone/>
            </a:pPr>
            <a:r>
              <a:rPr lang="en-US" sz="1000" dirty="0">
                <a:solidFill>
                  <a:srgbClr val="7E939F"/>
                </a:solidFill>
                <a:latin typeface="Calibri" pitchFamily="34" charset="0"/>
                <a:ea typeface="Calibri" pitchFamily="34" charset="-122"/>
                <a:cs typeface="Calibri" pitchFamily="34" charset="-120"/>
              </a:rPr>
              <a:t>Fair caveat: a general LTI controller can be given proper anti-windup (Hanus conditioning, observer-form AW) — but that is another design step, with its own validation. Youla-H makes two lines enough.</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7"/>
        </a:solidFill>
        <a:effectLst/>
      </p:bgPr>
    </p:bg>
    <p:spTree>
      <p:nvGrpSpPr>
        <p:cNvPr id="1" name=""/>
        <p:cNvGrpSpPr/>
        <p:nvPr/>
      </p:nvGrpSpPr>
      <p:grpSpPr>
        <a:xfrm>
          <a:off x="0" y="0"/>
          <a:ext cx="0" cy="0"/>
          <a:chOff x="0" y="0"/>
          <a:chExt cx="0" cy="0"/>
        </a:xfrm>
      </p:grpSpPr>
      <p:sp>
        <p:nvSpPr>
          <p:cNvPr id="2" name="Text 0"/>
          <p:cNvSpPr/>
          <p:nvPr/>
        </p:nvSpPr>
        <p:spPr>
          <a:xfrm>
            <a:off x="502920" y="310896"/>
            <a:ext cx="8229600" cy="256032"/>
          </a:xfrm>
          <a:prstGeom prst="rect">
            <a:avLst/>
          </a:prstGeom>
          <a:noFill/>
          <a:ln/>
        </p:spPr>
        <p:txBody>
          <a:bodyPr wrap="square" lIns="0" tIns="0" rIns="0" bIns="0" rtlCol="0" anchor="ctr"/>
          <a:lstStyle/>
          <a:p>
            <a:pPr marL="0" indent="0">
              <a:buNone/>
            </a:pPr>
            <a:r>
              <a:rPr lang="en-US" sz="1200" b="1" kern="0" spc="160" dirty="0">
                <a:solidFill>
                  <a:srgbClr val="1C7293"/>
                </a:solidFill>
                <a:latin typeface="Calibri" pitchFamily="34" charset="0"/>
                <a:ea typeface="Calibri" pitchFamily="34" charset="-122"/>
                <a:cs typeface="Calibri" pitchFamily="34" charset="-120"/>
              </a:rPr>
              <a:t>SIDE BY SIDE — C++</a:t>
            </a:r>
            <a:endParaRPr lang="en-US" sz="1200" dirty="0"/>
          </a:p>
        </p:txBody>
      </p:sp>
      <p:sp>
        <p:nvSpPr>
          <p:cNvPr id="3" name="Text 1"/>
          <p:cNvSpPr/>
          <p:nvPr/>
        </p:nvSpPr>
        <p:spPr>
          <a:xfrm>
            <a:off x="502920" y="566928"/>
            <a:ext cx="11155680" cy="566928"/>
          </a:xfrm>
          <a:prstGeom prst="rect">
            <a:avLst/>
          </a:prstGeom>
          <a:noFill/>
          <a:ln/>
        </p:spPr>
        <p:txBody>
          <a:bodyPr wrap="square" lIns="0" tIns="0" rIns="0" bIns="0" rtlCol="0" anchor="ctr"/>
          <a:lstStyle/>
          <a:p>
            <a:pPr marL="0" indent="0">
              <a:buNone/>
            </a:pPr>
            <a:r>
              <a:rPr lang="en-US" sz="3200" b="1" dirty="0">
                <a:solidFill>
                  <a:srgbClr val="12303F"/>
                </a:solidFill>
                <a:latin typeface="Cambria" pitchFamily="34" charset="0"/>
                <a:ea typeface="Cambria" pitchFamily="34" charset="-122"/>
                <a:cs typeface="Cambria" pitchFamily="34" charset="-120"/>
              </a:rPr>
              <a:t>The same loop, the code you would actually write</a:t>
            </a:r>
            <a:endParaRPr lang="en-US" sz="3200" dirty="0"/>
          </a:p>
        </p:txBody>
      </p:sp>
      <p:sp>
        <p:nvSpPr>
          <p:cNvPr id="4" name="Text 2"/>
          <p:cNvSpPr/>
          <p:nvPr/>
        </p:nvSpPr>
        <p:spPr>
          <a:xfrm>
            <a:off x="548640" y="1280160"/>
            <a:ext cx="5394960" cy="237744"/>
          </a:xfrm>
          <a:prstGeom prst="rect">
            <a:avLst/>
          </a:prstGeom>
          <a:noFill/>
          <a:ln/>
        </p:spPr>
        <p:txBody>
          <a:bodyPr wrap="square" lIns="0" tIns="0" rIns="0" bIns="0" rtlCol="0" anchor="ctr"/>
          <a:lstStyle/>
          <a:p>
            <a:pPr marL="0" indent="0">
              <a:buNone/>
            </a:pPr>
            <a:r>
              <a:rPr lang="en-US" sz="1200" b="1" dirty="0">
                <a:solidFill>
                  <a:srgbClr val="1C7293"/>
                </a:solidFill>
                <a:latin typeface="Calibri" pitchFamily="34" charset="0"/>
                <a:ea typeface="Calibri" pitchFamily="34" charset="-122"/>
                <a:cs typeface="Calibri" pitchFamily="34" charset="-120"/>
              </a:rPr>
              <a:t>Youla-H — share_controller.h (shipped)</a:t>
            </a:r>
            <a:endParaRPr lang="en-US" sz="1200" dirty="0"/>
          </a:p>
        </p:txBody>
      </p:sp>
      <p:sp>
        <p:nvSpPr>
          <p:cNvPr id="5" name="Shape 3"/>
          <p:cNvSpPr/>
          <p:nvPr/>
        </p:nvSpPr>
        <p:spPr>
          <a:xfrm>
            <a:off x="502920" y="1572768"/>
            <a:ext cx="5486400" cy="3611880"/>
          </a:xfrm>
          <a:prstGeom prst="roundRect">
            <a:avLst>
              <a:gd name="adj" fmla="val 1266"/>
            </a:avLst>
          </a:prstGeom>
          <a:solidFill>
            <a:srgbClr val="10262F"/>
          </a:solidFill>
          <a:ln w="12700">
            <a:solidFill>
              <a:srgbClr val="10262F"/>
            </a:solidFill>
            <a:prstDash val="solid"/>
          </a:ln>
        </p:spPr>
        <p:txBody>
          <a:bodyPr/>
          <a:lstStyle/>
          <a:p>
            <a:endParaRPr lang="en-US"/>
          </a:p>
        </p:txBody>
      </p:sp>
      <p:sp>
        <p:nvSpPr>
          <p:cNvPr id="6" name="Text 4"/>
          <p:cNvSpPr/>
          <p:nvPr/>
        </p:nvSpPr>
        <p:spPr>
          <a:xfrm>
            <a:off x="612648" y="1664208"/>
            <a:ext cx="5303520" cy="3429000"/>
          </a:xfrm>
          <a:prstGeom prst="rect">
            <a:avLst/>
          </a:prstGeom>
          <a:noFill/>
          <a:ln/>
        </p:spPr>
        <p:txBody>
          <a:bodyPr wrap="square" lIns="0" tIns="0" rIns="0" bIns="0" rtlCol="0" anchor="ctr"/>
          <a:lstStyle/>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#define SHARE_CTRL_NSOS 3</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static const float SOS[3][5]  = { ... };   // 15 coeffs</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static const float KI = 111.929630f;       // + 1</a:t>
            </a:r>
            <a:endParaRPr lang="en-US" sz="850" dirty="0"/>
          </a:p>
          <a:p>
            <a:pPr marL="0" indent="0">
              <a:lnSpc>
                <a:spcPts val="1150"/>
              </a:lnSpc>
              <a:buNone/>
            </a:pP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static float st[3][2], integ, eprev;       // 8 floats</a:t>
            </a:r>
            <a:endParaRPr lang="en-US" sz="850" dirty="0"/>
          </a:p>
          <a:p>
            <a:pPr marL="0" indent="0">
              <a:lnSpc>
                <a:spcPts val="1150"/>
              </a:lnSpc>
              <a:buNone/>
            </a:pP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float step(float e, float rmin, float rmax) {</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float x = e;</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for (int i = 0; i &lt; 3; i++) { /* DF2T */ }   // R(z)</a:t>
            </a:r>
            <a:endParaRPr lang="en-US" sz="850" dirty="0"/>
          </a:p>
          <a:p>
            <a:pPr marL="0" indent="0">
              <a:lnSpc>
                <a:spcPts val="1150"/>
              </a:lnSpc>
              <a:buNone/>
            </a:pP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 exact integrator, its own state</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float iN = integ + KI*Ts*0.5f*(e + eprev);</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float u  = 0.5f + x + iN;</a:t>
            </a:r>
            <a:endParaRPr lang="en-US" sz="850" dirty="0"/>
          </a:p>
          <a:p>
            <a:pPr marL="0" indent="0">
              <a:lnSpc>
                <a:spcPts val="1150"/>
              </a:lnSpc>
              <a:buNone/>
            </a:pP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 BACK-CALCULATION: hand the excess to the integrator</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if      (u &gt; rmax) { iN -= (u - rmax); u = rmax; }</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else if (u &lt; rmin) { iN += (rmin - u); u = rmin; }</a:t>
            </a:r>
            <a:endParaRPr lang="en-US" sz="850" dirty="0"/>
          </a:p>
          <a:p>
            <a:pPr marL="0" indent="0">
              <a:lnSpc>
                <a:spcPts val="1150"/>
              </a:lnSpc>
              <a:buNone/>
            </a:pP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integ = iN;  eprev = e;</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return u;</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a:t>
            </a:r>
            <a:endParaRPr lang="en-US" sz="850" dirty="0"/>
          </a:p>
        </p:txBody>
      </p:sp>
      <p:sp>
        <p:nvSpPr>
          <p:cNvPr id="7" name="Text 5"/>
          <p:cNvSpPr/>
          <p:nvPr/>
        </p:nvSpPr>
        <p:spPr>
          <a:xfrm>
            <a:off x="6245352" y="1280160"/>
            <a:ext cx="5394960" cy="237744"/>
          </a:xfrm>
          <a:prstGeom prst="rect">
            <a:avLst/>
          </a:prstGeom>
          <a:noFill/>
          <a:ln/>
        </p:spPr>
        <p:txBody>
          <a:bodyPr wrap="square" lIns="0" tIns="0" rIns="0" bIns="0" rtlCol="0" anchor="ctr"/>
          <a:lstStyle/>
          <a:p>
            <a:pPr marL="0" indent="0">
              <a:buNone/>
            </a:pPr>
            <a:r>
              <a:rPr lang="en-US" sz="1200" b="1" dirty="0">
                <a:solidFill>
                  <a:srgbClr val="E08A1E"/>
                </a:solidFill>
                <a:latin typeface="Calibri" pitchFamily="34" charset="0"/>
                <a:ea typeface="Calibri" pitchFamily="34" charset="-122"/>
                <a:cs typeface="Calibri" pitchFamily="34" charset="-120"/>
              </a:rPr>
              <a:t>Uncorrected H∞ — what it would take</a:t>
            </a:r>
            <a:endParaRPr lang="en-US" sz="1200" dirty="0"/>
          </a:p>
        </p:txBody>
      </p:sp>
      <p:sp>
        <p:nvSpPr>
          <p:cNvPr id="8" name="Shape 6"/>
          <p:cNvSpPr/>
          <p:nvPr/>
        </p:nvSpPr>
        <p:spPr>
          <a:xfrm>
            <a:off x="6199632" y="1572768"/>
            <a:ext cx="5486400" cy="3611880"/>
          </a:xfrm>
          <a:prstGeom prst="roundRect">
            <a:avLst>
              <a:gd name="adj" fmla="val 1266"/>
            </a:avLst>
          </a:prstGeom>
          <a:solidFill>
            <a:srgbClr val="10262F"/>
          </a:solidFill>
          <a:ln w="12700">
            <a:solidFill>
              <a:srgbClr val="10262F"/>
            </a:solidFill>
            <a:prstDash val="solid"/>
          </a:ln>
        </p:spPr>
        <p:txBody>
          <a:bodyPr/>
          <a:lstStyle/>
          <a:p>
            <a:endParaRPr lang="en-US"/>
          </a:p>
        </p:txBody>
      </p:sp>
      <p:sp>
        <p:nvSpPr>
          <p:cNvPr id="9" name="Text 7"/>
          <p:cNvSpPr/>
          <p:nvPr/>
        </p:nvSpPr>
        <p:spPr>
          <a:xfrm>
            <a:off x="6309360" y="1664208"/>
            <a:ext cx="5303520" cy="3429000"/>
          </a:xfrm>
          <a:prstGeom prst="rect">
            <a:avLst/>
          </a:prstGeom>
          <a:noFill/>
          <a:ln/>
        </p:spPr>
        <p:txBody>
          <a:bodyPr wrap="square" lIns="0" tIns="0" rIns="0" bIns="0" rtlCol="0" anchor="ctr"/>
          <a:lstStyle/>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#define HINF_NSOS 6</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static const float SOS[6][5] = {           // 30 coeffs</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 2.917e-2f, 1.667e-2f, 4.168e-3f,  5.911e-1f, 1.406e-1f},</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 1.0f,      1.0f,      0.0f,      -0.999996f, 0.0f},  // &lt;- DC</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 4 more ...  };                       // no KI to declare</a:t>
            </a:r>
            <a:endParaRPr lang="en-US" sz="850" dirty="0"/>
          </a:p>
          <a:p>
            <a:pPr marL="0" indent="0">
              <a:lnSpc>
                <a:spcPts val="1150"/>
              </a:lnSpc>
              <a:buNone/>
            </a:pP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static float st[6][2];                     // 12 floats</a:t>
            </a:r>
            <a:endParaRPr lang="en-US" sz="850" dirty="0"/>
          </a:p>
          <a:p>
            <a:pPr marL="0" indent="0">
              <a:lnSpc>
                <a:spcPts val="1150"/>
              </a:lnSpc>
              <a:buNone/>
            </a:pP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float step(float e, float rmin, float rmax) {</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float x = e;</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for (int i = 0; i &lt; 6; i++) { /* DF2T */ }   // ALL of Gc</a:t>
            </a:r>
            <a:endParaRPr lang="en-US" sz="850" dirty="0"/>
          </a:p>
          <a:p>
            <a:pPr marL="0" indent="0">
              <a:lnSpc>
                <a:spcPts val="1150"/>
              </a:lnSpc>
              <a:buNone/>
            </a:pP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 no integrator term: the DC action is st[1][0],</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 buried mid-cascade. Nothing to hand an excess to.</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float u = 0.5f + x;</a:t>
            </a:r>
            <a:endParaRPr lang="en-US" sz="850" dirty="0"/>
          </a:p>
          <a:p>
            <a:pPr marL="0" indent="0">
              <a:lnSpc>
                <a:spcPts val="1150"/>
              </a:lnSpc>
              <a:buNone/>
            </a:pP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 NAIVE CLAMP: states keep charging while railed</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if      (u &gt; rmax) u = rmax;</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else if (u &lt; rmin) u = rmin;</a:t>
            </a:r>
            <a:endParaRPr lang="en-US" sz="850" dirty="0"/>
          </a:p>
          <a:p>
            <a:pPr marL="0" indent="0">
              <a:lnSpc>
                <a:spcPts val="1150"/>
              </a:lnSpc>
              <a:buNone/>
            </a:pPr>
            <a:endParaRPr lang="en-US" sz="850" dirty="0"/>
          </a:p>
          <a:p>
            <a:pPr marL="0" indent="0">
              <a:lnSpc>
                <a:spcPts val="1150"/>
              </a:lnSpc>
              <a:buNone/>
            </a:pP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    return u;</a:t>
            </a:r>
            <a:endParaRPr lang="en-US" sz="850" dirty="0"/>
          </a:p>
          <a:p>
            <a:pPr marL="0" indent="0">
              <a:lnSpc>
                <a:spcPts val="1150"/>
              </a:lnSpc>
              <a:buNone/>
            </a:pPr>
            <a:r>
              <a:rPr lang="en-US" sz="850" dirty="0">
                <a:solidFill>
                  <a:srgbClr val="D6E3EA"/>
                </a:solidFill>
                <a:latin typeface="Courier New" pitchFamily="34" charset="0"/>
                <a:ea typeface="Courier New" pitchFamily="34" charset="-122"/>
                <a:cs typeface="Courier New" pitchFamily="34" charset="-120"/>
              </a:rPr>
              <a:t>}</a:t>
            </a:r>
            <a:endParaRPr lang="en-US" sz="850" dirty="0"/>
          </a:p>
        </p:txBody>
      </p:sp>
      <p:sp>
        <p:nvSpPr>
          <p:cNvPr id="10" name="Text 8"/>
          <p:cNvSpPr/>
          <p:nvPr/>
        </p:nvSpPr>
        <p:spPr>
          <a:xfrm>
            <a:off x="502920" y="5321808"/>
            <a:ext cx="11183112" cy="347472"/>
          </a:xfrm>
          <a:prstGeom prst="rect">
            <a:avLst/>
          </a:prstGeom>
          <a:noFill/>
          <a:ln/>
        </p:spPr>
        <p:txBody>
          <a:bodyPr wrap="square" lIns="0" tIns="0" rIns="0" bIns="0" rtlCol="0" anchor="ctr"/>
          <a:lstStyle/>
          <a:p>
            <a:pPr marL="0" indent="0">
              <a:buNone/>
            </a:pPr>
            <a:r>
              <a:rPr lang="en-US" sz="1050" b="1" dirty="0">
                <a:solidFill>
                  <a:srgbClr val="12303F"/>
                </a:solidFill>
                <a:latin typeface="Calibri" pitchFamily="34" charset="0"/>
                <a:ea typeface="Calibri" pitchFamily="34" charset="-122"/>
                <a:cs typeface="Calibri" pitchFamily="34" charset="-120"/>
              </a:rPr>
              <a:t>Order 4 vs 7  </a:t>
            </a:r>
            <a:r>
              <a:rPr lang="en-US" sz="1050" dirty="0">
                <a:solidFill>
                  <a:srgbClr val="6B7C87"/>
                </a:solidFill>
                <a:latin typeface="Calibri" pitchFamily="34" charset="0"/>
                <a:ea typeface="Calibri" pitchFamily="34" charset="-122"/>
                <a:cs typeface="Calibri" pitchFamily="34" charset="-120"/>
              </a:rPr>
              <a:t>3 sections + an explicit integrator, against a 6-section cascade. 16 coefficients vs 30, 8 state floats vs 12.</a:t>
            </a:r>
            <a:endParaRPr lang="en-US" sz="1050" dirty="0"/>
          </a:p>
        </p:txBody>
      </p:sp>
      <p:sp>
        <p:nvSpPr>
          <p:cNvPr id="11" name="Text 9"/>
          <p:cNvSpPr/>
          <p:nvPr/>
        </p:nvSpPr>
        <p:spPr>
          <a:xfrm>
            <a:off x="502920" y="5669280"/>
            <a:ext cx="11183112" cy="566928"/>
          </a:xfrm>
          <a:prstGeom prst="rect">
            <a:avLst/>
          </a:prstGeom>
          <a:noFill/>
          <a:ln/>
        </p:spPr>
        <p:txBody>
          <a:bodyPr wrap="square" lIns="0" tIns="0" rIns="0" bIns="0" rtlCol="0" anchor="ctr"/>
          <a:lstStyle/>
          <a:p>
            <a:pPr marL="0" indent="0">
              <a:buNone/>
            </a:pPr>
            <a:r>
              <a:rPr lang="en-US" sz="1050" b="1" dirty="0">
                <a:solidFill>
                  <a:srgbClr val="12303F"/>
                </a:solidFill>
                <a:latin typeface="Calibri" pitchFamily="34" charset="0"/>
                <a:ea typeface="Calibri" pitchFamily="34" charset="-122"/>
                <a:cs typeface="Calibri" pitchFamily="34" charset="-120"/>
              </a:rPr>
              <a:t>The integrator is right there in the H∞ code — it just leaks  </a:t>
            </a:r>
            <a:r>
              <a:rPr lang="en-US" sz="1050" dirty="0">
                <a:solidFill>
                  <a:srgbClr val="6B7C87"/>
                </a:solidFill>
                <a:latin typeface="Calibri" pitchFamily="34" charset="0"/>
                <a:ea typeface="Calibri" pitchFamily="34" charset="-122"/>
                <a:cs typeface="Calibri" pitchFamily="34" charset="-120"/>
              </a:rPr>
              <a:t>Section 1 is b = {1, 1, 0}, a</a:t>
            </a:r>
            <a:r>
              <a:rPr lang="en-US" sz="1050" baseline="-40000" dirty="0">
                <a:solidFill>
                  <a:srgbClr val="6B7C87"/>
                </a:solidFill>
                <a:latin typeface="Calibri" pitchFamily="34" charset="0"/>
                <a:ea typeface="Calibri" pitchFamily="34" charset="-122"/>
                <a:cs typeface="Calibri" pitchFamily="34" charset="-120"/>
              </a:rPr>
              <a:t>1</a:t>
            </a:r>
            <a:r>
              <a:rPr lang="en-US" sz="1050" dirty="0">
                <a:solidFill>
                  <a:srgbClr val="6B7C87"/>
                </a:solidFill>
                <a:latin typeface="Calibri" pitchFamily="34" charset="0"/>
                <a:ea typeface="Calibri" pitchFamily="34" charset="-122"/>
                <a:cs typeface="Calibri" pitchFamily="34" charset="-120"/>
              </a:rPr>
              <a:t> = −0.999996. At a</a:t>
            </a:r>
            <a:r>
              <a:rPr lang="en-US" sz="1050" baseline="-40000" dirty="0">
                <a:solidFill>
                  <a:srgbClr val="6B7C87"/>
                </a:solidFill>
                <a:latin typeface="Calibri" pitchFamily="34" charset="0"/>
                <a:ea typeface="Calibri" pitchFamily="34" charset="-122"/>
                <a:cs typeface="Calibri" pitchFamily="34" charset="-120"/>
              </a:rPr>
              <a:t>1</a:t>
            </a:r>
            <a:r>
              <a:rPr lang="en-US" sz="1050" dirty="0">
                <a:solidFill>
                  <a:srgbClr val="6B7C87"/>
                </a:solidFill>
                <a:latin typeface="Calibri" pitchFamily="34" charset="0"/>
                <a:ea typeface="Calibri" pitchFamily="34" charset="-122"/>
                <a:cs typeface="Calibri" pitchFamily="34" charset="-120"/>
              </a:rPr>
              <a:t> = −1.0 exactly it would be a trapezoidal integrator. That 4·10⁻⁶ of leak is T(0) = 0.99996, and it carries the loop's whole DC gain (G</a:t>
            </a:r>
            <a:r>
              <a:rPr lang="en-US" sz="1050" baseline="-40000" dirty="0">
                <a:solidFill>
                  <a:srgbClr val="6B7C87"/>
                </a:solidFill>
                <a:latin typeface="Calibri" pitchFamily="34" charset="0"/>
                <a:ea typeface="Calibri" pitchFamily="34" charset="-122"/>
                <a:cs typeface="Calibri" pitchFamily="34" charset="-120"/>
              </a:rPr>
              <a:t>C</a:t>
            </a:r>
            <a:r>
              <a:rPr lang="en-US" sz="1050" dirty="0">
                <a:solidFill>
                  <a:srgbClr val="6B7C87"/>
                </a:solidFill>
                <a:latin typeface="Calibri" pitchFamily="34" charset="0"/>
                <a:ea typeface="Calibri" pitchFamily="34" charset="-122"/>
                <a:cs typeface="Calibri" pitchFamily="34" charset="-120"/>
              </a:rPr>
              <a:t>(1) = 27952).</a:t>
            </a:r>
            <a:endParaRPr lang="en-US" sz="1050" dirty="0"/>
          </a:p>
        </p:txBody>
      </p:sp>
      <p:sp>
        <p:nvSpPr>
          <p:cNvPr id="12" name="Text 10"/>
          <p:cNvSpPr/>
          <p:nvPr/>
        </p:nvSpPr>
        <p:spPr>
          <a:xfrm>
            <a:off x="502920" y="6236208"/>
            <a:ext cx="11183112" cy="658368"/>
          </a:xfrm>
          <a:prstGeom prst="rect">
            <a:avLst/>
          </a:prstGeom>
          <a:noFill/>
          <a:ln/>
        </p:spPr>
        <p:txBody>
          <a:bodyPr wrap="square" lIns="0" tIns="0" rIns="0" bIns="0" rtlCol="0" anchor="ctr"/>
          <a:lstStyle/>
          <a:p>
            <a:pPr marL="0" indent="0">
              <a:buNone/>
            </a:pPr>
            <a:r>
              <a:rPr lang="en-US" sz="1050" b="1" dirty="0">
                <a:solidFill>
                  <a:srgbClr val="12303F"/>
                </a:solidFill>
                <a:latin typeface="Calibri" pitchFamily="34" charset="0"/>
                <a:ea typeface="Calibri" pitchFamily="34" charset="-122"/>
                <a:cs typeface="Calibri" pitchFamily="34" charset="-120"/>
              </a:rPr>
              <a:t>Which is why the clamp has nothing to grab  </a:t>
            </a:r>
            <a:r>
              <a:rPr lang="en-US" sz="1050" dirty="0">
                <a:solidFill>
                  <a:srgbClr val="6B7C87"/>
                </a:solidFill>
                <a:latin typeface="Calibri" pitchFamily="34" charset="0"/>
                <a:ea typeface="Calibri" pitchFamily="34" charset="-122"/>
                <a:cs typeface="Calibri" pitchFamily="34" charset="-120"/>
              </a:rPr>
              <a:t>Back-calculation needs a scalar that owns DC. Here it is st[1][0], mid-cascade, inseparable from the sections after it. Clamping the output alone lets it charge — recovery then scales with rail time. Doing it properly means Hanus conditioning or an observer form: another realisation, another validation pass.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3685</Words>
  <Application>Microsoft Office PowerPoint</Application>
  <PresentationFormat>Widescreen</PresentationFormat>
  <Paragraphs>191</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Droop power-share: system model and Youla-H controller</dc:title>
  <dc:subject>PptxGenJS Presentation</dc:subject>
  <dc:creator>Ricky</dc:creator>
  <cp:lastModifiedBy>Ricky Tan</cp:lastModifiedBy>
  <cp:revision>2</cp:revision>
  <dcterms:created xsi:type="dcterms:W3CDTF">2026-07-16T19:20:54Z</dcterms:created>
  <dcterms:modified xsi:type="dcterms:W3CDTF">2026-07-16T19:29:04Z</dcterms:modified>
</cp:coreProperties>
</file>